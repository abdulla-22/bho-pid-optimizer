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24"/>
  </p:notesMasterIdLst>
  <p:sldIdLst>
    <p:sldId id="256" r:id="rId2"/>
    <p:sldId id="257" r:id="rId3"/>
    <p:sldId id="258" r:id="rId4"/>
    <p:sldId id="259" r:id="rId5"/>
    <p:sldId id="260" r:id="rId6"/>
    <p:sldId id="271" r:id="rId7"/>
    <p:sldId id="273" r:id="rId8"/>
    <p:sldId id="272" r:id="rId9"/>
    <p:sldId id="274" r:id="rId10"/>
    <p:sldId id="275" r:id="rId11"/>
    <p:sldId id="283" r:id="rId12"/>
    <p:sldId id="284" r:id="rId13"/>
    <p:sldId id="285" r:id="rId14"/>
    <p:sldId id="279" r:id="rId15"/>
    <p:sldId id="280" r:id="rId16"/>
    <p:sldId id="282" r:id="rId17"/>
    <p:sldId id="286" r:id="rId18"/>
    <p:sldId id="287" r:id="rId19"/>
    <p:sldId id="288" r:id="rId20"/>
    <p:sldId id="289" r:id="rId21"/>
    <p:sldId id="290" r:id="rId22"/>
    <p:sldId id="291"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33"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4.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_rels/drawing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4.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dgm:fillClrLst>
    <dgm:linClrLst meth="repeat">
      <a:schemeClr val="lt1">
        <a:alpha val="0"/>
      </a:schemeClr>
    </dgm:linClrLst>
    <dgm:effectClrLst/>
    <dgm:txLinClrLst/>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4B7C0C-0E7F-4E49-B26A-FD41AFF5DA2A}"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A4544F09-E2FE-4AA8-A8E4-6BA9C01EA909}">
      <dgm:prSet/>
      <dgm:spPr/>
      <dgm:t>
        <a:bodyPr/>
        <a:lstStyle/>
        <a:p>
          <a:r>
            <a:rPr lang="en-US" dirty="0"/>
            <a:t>Recent studies highlight the limitations of rigid robots in pipeline inspection, particularly in navigating bends and varying diameters. Xiang (2024) emphasized that most commercial inspection robots use solid metal components, which risk damaging pipes due to friction and lack flexibility. </a:t>
          </a:r>
        </a:p>
      </dgm:t>
    </dgm:pt>
    <dgm:pt modelId="{E2464157-2329-478C-ABA6-0E55DF908BD5}" type="parTrans" cxnId="{A9C68049-57C9-441E-A50A-5025D9490580}">
      <dgm:prSet/>
      <dgm:spPr/>
      <dgm:t>
        <a:bodyPr/>
        <a:lstStyle/>
        <a:p>
          <a:endParaRPr lang="en-US"/>
        </a:p>
      </dgm:t>
    </dgm:pt>
    <dgm:pt modelId="{D0858ED1-7454-4E17-B4E2-1392713FAD24}" type="sibTrans" cxnId="{A9C68049-57C9-441E-A50A-5025D9490580}">
      <dgm:prSet/>
      <dgm:spPr/>
      <dgm:t>
        <a:bodyPr/>
        <a:lstStyle/>
        <a:p>
          <a:endParaRPr lang="en-US"/>
        </a:p>
      </dgm:t>
    </dgm:pt>
    <dgm:pt modelId="{21A6D77F-719E-4144-A3E4-66816E9F354A}">
      <dgm:prSet/>
      <dgm:spPr/>
      <dgm:t>
        <a:bodyPr/>
        <a:lstStyle/>
        <a:p>
          <a:r>
            <a:rPr lang="en-US" dirty="0"/>
            <a:t>Yu et al. (2023) demonstrated how soft robots with pneumatic actuators can adapt to confined spaces and irregular paths. Additional research supports the use of </a:t>
          </a:r>
          <a:r>
            <a:rPr lang="en-US" dirty="0" err="1"/>
            <a:t>hyperelastic</a:t>
          </a:r>
          <a:r>
            <a:rPr lang="en-US" dirty="0"/>
            <a:t> materials and bio-inspired designs to improve motion control and safety in pipe environments.</a:t>
          </a:r>
        </a:p>
      </dgm:t>
    </dgm:pt>
    <dgm:pt modelId="{B075325C-AE23-433C-92C8-7624B288F7D2}" type="parTrans" cxnId="{3D69E0A1-A149-42D1-9A85-707776FA69CF}">
      <dgm:prSet/>
      <dgm:spPr/>
      <dgm:t>
        <a:bodyPr/>
        <a:lstStyle/>
        <a:p>
          <a:endParaRPr lang="en-US"/>
        </a:p>
      </dgm:t>
    </dgm:pt>
    <dgm:pt modelId="{A4269B92-6E27-4BF9-AD31-87BB20A1B8A6}" type="sibTrans" cxnId="{3D69E0A1-A149-42D1-9A85-707776FA69CF}">
      <dgm:prSet/>
      <dgm:spPr/>
      <dgm:t>
        <a:bodyPr/>
        <a:lstStyle/>
        <a:p>
          <a:endParaRPr lang="en-US"/>
        </a:p>
      </dgm:t>
    </dgm:pt>
    <dgm:pt modelId="{98F3CC86-94B2-40AA-A334-E7176A1C1AB2}" type="pres">
      <dgm:prSet presAssocID="{454B7C0C-0E7F-4E49-B26A-FD41AFF5DA2A}" presName="hierChild1" presStyleCnt="0">
        <dgm:presLayoutVars>
          <dgm:chPref val="1"/>
          <dgm:dir/>
          <dgm:animOne val="branch"/>
          <dgm:animLvl val="lvl"/>
          <dgm:resizeHandles/>
        </dgm:presLayoutVars>
      </dgm:prSet>
      <dgm:spPr/>
    </dgm:pt>
    <dgm:pt modelId="{53BF45DF-B9DB-4F71-A03E-6D0A58DC3A6F}" type="pres">
      <dgm:prSet presAssocID="{A4544F09-E2FE-4AA8-A8E4-6BA9C01EA909}" presName="hierRoot1" presStyleCnt="0"/>
      <dgm:spPr/>
    </dgm:pt>
    <dgm:pt modelId="{4B1722D9-3760-4C83-BCCD-79DCB8E7BA9C}" type="pres">
      <dgm:prSet presAssocID="{A4544F09-E2FE-4AA8-A8E4-6BA9C01EA909}" presName="composite" presStyleCnt="0"/>
      <dgm:spPr/>
    </dgm:pt>
    <dgm:pt modelId="{F29C3852-9660-44A5-B026-902F0249A0F8}" type="pres">
      <dgm:prSet presAssocID="{A4544F09-E2FE-4AA8-A8E4-6BA9C01EA909}" presName="background" presStyleLbl="node0" presStyleIdx="0" presStyleCnt="2"/>
      <dgm:spPr/>
    </dgm:pt>
    <dgm:pt modelId="{E04C9606-DF31-48F3-B0ED-FE4CCABDA0D6}" type="pres">
      <dgm:prSet presAssocID="{A4544F09-E2FE-4AA8-A8E4-6BA9C01EA909}" presName="text" presStyleLbl="fgAcc0" presStyleIdx="0" presStyleCnt="2">
        <dgm:presLayoutVars>
          <dgm:chPref val="3"/>
        </dgm:presLayoutVars>
      </dgm:prSet>
      <dgm:spPr/>
    </dgm:pt>
    <dgm:pt modelId="{D2E29B06-5EF5-4D55-A5AE-3663AE6CDE12}" type="pres">
      <dgm:prSet presAssocID="{A4544F09-E2FE-4AA8-A8E4-6BA9C01EA909}" presName="hierChild2" presStyleCnt="0"/>
      <dgm:spPr/>
    </dgm:pt>
    <dgm:pt modelId="{EACB4DD8-3D91-4640-A3A7-1FAD6E1B9883}" type="pres">
      <dgm:prSet presAssocID="{21A6D77F-719E-4144-A3E4-66816E9F354A}" presName="hierRoot1" presStyleCnt="0"/>
      <dgm:spPr/>
    </dgm:pt>
    <dgm:pt modelId="{1EAE33EB-E21B-4713-AA63-4EFB64C60C18}" type="pres">
      <dgm:prSet presAssocID="{21A6D77F-719E-4144-A3E4-66816E9F354A}" presName="composite" presStyleCnt="0"/>
      <dgm:spPr/>
    </dgm:pt>
    <dgm:pt modelId="{3B9ECDE3-29EF-4F6E-A591-7DEEA0AF0967}" type="pres">
      <dgm:prSet presAssocID="{21A6D77F-719E-4144-A3E4-66816E9F354A}" presName="background" presStyleLbl="node0" presStyleIdx="1" presStyleCnt="2"/>
      <dgm:spPr/>
    </dgm:pt>
    <dgm:pt modelId="{BDA68989-63BF-4B4E-87B8-7563685D5705}" type="pres">
      <dgm:prSet presAssocID="{21A6D77F-719E-4144-A3E4-66816E9F354A}" presName="text" presStyleLbl="fgAcc0" presStyleIdx="1" presStyleCnt="2">
        <dgm:presLayoutVars>
          <dgm:chPref val="3"/>
        </dgm:presLayoutVars>
      </dgm:prSet>
      <dgm:spPr/>
    </dgm:pt>
    <dgm:pt modelId="{FC5EDBE9-3332-44B4-9AB9-508691C36ED0}" type="pres">
      <dgm:prSet presAssocID="{21A6D77F-719E-4144-A3E4-66816E9F354A}" presName="hierChild2" presStyleCnt="0"/>
      <dgm:spPr/>
    </dgm:pt>
  </dgm:ptLst>
  <dgm:cxnLst>
    <dgm:cxn modelId="{01029927-3152-4111-B52B-B0CECA6E8C05}" type="presOf" srcId="{454B7C0C-0E7F-4E49-B26A-FD41AFF5DA2A}" destId="{98F3CC86-94B2-40AA-A334-E7176A1C1AB2}" srcOrd="0" destOrd="0" presId="urn:microsoft.com/office/officeart/2005/8/layout/hierarchy1"/>
    <dgm:cxn modelId="{A9C68049-57C9-441E-A50A-5025D9490580}" srcId="{454B7C0C-0E7F-4E49-B26A-FD41AFF5DA2A}" destId="{A4544F09-E2FE-4AA8-A8E4-6BA9C01EA909}" srcOrd="0" destOrd="0" parTransId="{E2464157-2329-478C-ABA6-0E55DF908BD5}" sibTransId="{D0858ED1-7454-4E17-B4E2-1392713FAD24}"/>
    <dgm:cxn modelId="{3D69E0A1-A149-42D1-9A85-707776FA69CF}" srcId="{454B7C0C-0E7F-4E49-B26A-FD41AFF5DA2A}" destId="{21A6D77F-719E-4144-A3E4-66816E9F354A}" srcOrd="1" destOrd="0" parTransId="{B075325C-AE23-433C-92C8-7624B288F7D2}" sibTransId="{A4269B92-6E27-4BF9-AD31-87BB20A1B8A6}"/>
    <dgm:cxn modelId="{82DCE5F5-05BA-48A9-9617-4CD3E33FD037}" type="presOf" srcId="{21A6D77F-719E-4144-A3E4-66816E9F354A}" destId="{BDA68989-63BF-4B4E-87B8-7563685D5705}" srcOrd="0" destOrd="0" presId="urn:microsoft.com/office/officeart/2005/8/layout/hierarchy1"/>
    <dgm:cxn modelId="{619F9FF8-B220-4F91-829B-87B6D3433E26}" type="presOf" srcId="{A4544F09-E2FE-4AA8-A8E4-6BA9C01EA909}" destId="{E04C9606-DF31-48F3-B0ED-FE4CCABDA0D6}" srcOrd="0" destOrd="0" presId="urn:microsoft.com/office/officeart/2005/8/layout/hierarchy1"/>
    <dgm:cxn modelId="{B1CFD969-8388-4D52-AECB-BE1B41F8F385}" type="presParOf" srcId="{98F3CC86-94B2-40AA-A334-E7176A1C1AB2}" destId="{53BF45DF-B9DB-4F71-A03E-6D0A58DC3A6F}" srcOrd="0" destOrd="0" presId="urn:microsoft.com/office/officeart/2005/8/layout/hierarchy1"/>
    <dgm:cxn modelId="{CC8CA3E2-9A3A-4737-A20B-1BA410F9014B}" type="presParOf" srcId="{53BF45DF-B9DB-4F71-A03E-6D0A58DC3A6F}" destId="{4B1722D9-3760-4C83-BCCD-79DCB8E7BA9C}" srcOrd="0" destOrd="0" presId="urn:microsoft.com/office/officeart/2005/8/layout/hierarchy1"/>
    <dgm:cxn modelId="{A42459A6-70E8-48FC-ACD5-B72357FDA2C3}" type="presParOf" srcId="{4B1722D9-3760-4C83-BCCD-79DCB8E7BA9C}" destId="{F29C3852-9660-44A5-B026-902F0249A0F8}" srcOrd="0" destOrd="0" presId="urn:microsoft.com/office/officeart/2005/8/layout/hierarchy1"/>
    <dgm:cxn modelId="{E43F03AB-7190-4E30-93BD-02BE71DB6958}" type="presParOf" srcId="{4B1722D9-3760-4C83-BCCD-79DCB8E7BA9C}" destId="{E04C9606-DF31-48F3-B0ED-FE4CCABDA0D6}" srcOrd="1" destOrd="0" presId="urn:microsoft.com/office/officeart/2005/8/layout/hierarchy1"/>
    <dgm:cxn modelId="{5A54072D-E562-4700-923F-5CDD5C04B3D9}" type="presParOf" srcId="{53BF45DF-B9DB-4F71-A03E-6D0A58DC3A6F}" destId="{D2E29B06-5EF5-4D55-A5AE-3663AE6CDE12}" srcOrd="1" destOrd="0" presId="urn:microsoft.com/office/officeart/2005/8/layout/hierarchy1"/>
    <dgm:cxn modelId="{11B88B8A-41FE-4CAD-9D18-1BBE8735E4C9}" type="presParOf" srcId="{98F3CC86-94B2-40AA-A334-E7176A1C1AB2}" destId="{EACB4DD8-3D91-4640-A3A7-1FAD6E1B9883}" srcOrd="1" destOrd="0" presId="urn:microsoft.com/office/officeart/2005/8/layout/hierarchy1"/>
    <dgm:cxn modelId="{0ED546BA-2E67-4ECB-A2CF-A54AEA5D8FB3}" type="presParOf" srcId="{EACB4DD8-3D91-4640-A3A7-1FAD6E1B9883}" destId="{1EAE33EB-E21B-4713-AA63-4EFB64C60C18}" srcOrd="0" destOrd="0" presId="urn:microsoft.com/office/officeart/2005/8/layout/hierarchy1"/>
    <dgm:cxn modelId="{4E9CF9E3-DF2A-44C8-A8B0-EF1E58F05764}" type="presParOf" srcId="{1EAE33EB-E21B-4713-AA63-4EFB64C60C18}" destId="{3B9ECDE3-29EF-4F6E-A591-7DEEA0AF0967}" srcOrd="0" destOrd="0" presId="urn:microsoft.com/office/officeart/2005/8/layout/hierarchy1"/>
    <dgm:cxn modelId="{62C9B16A-69BD-4BB6-B51D-15B10E1721E4}" type="presParOf" srcId="{1EAE33EB-E21B-4713-AA63-4EFB64C60C18}" destId="{BDA68989-63BF-4B4E-87B8-7563685D5705}" srcOrd="1" destOrd="0" presId="urn:microsoft.com/office/officeart/2005/8/layout/hierarchy1"/>
    <dgm:cxn modelId="{55E87ACD-5DD1-4DEF-8E17-96CF5BD30FF1}" type="presParOf" srcId="{EACB4DD8-3D91-4640-A3A7-1FAD6E1B9883}" destId="{FC5EDBE9-3332-44B4-9AB9-508691C36ED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0F9BD4-92BA-400F-9CE9-1E0579B0EFB2}" type="doc">
      <dgm:prSet loTypeId="urn:microsoft.com/office/officeart/2008/layout/LinedList" loCatId="list" qsTypeId="urn:microsoft.com/office/officeart/2005/8/quickstyle/simple2" qsCatId="simple" csTypeId="urn:microsoft.com/office/officeart/2005/8/colors/colorful1" csCatId="colorful"/>
      <dgm:spPr/>
      <dgm:t>
        <a:bodyPr/>
        <a:lstStyle/>
        <a:p>
          <a:endParaRPr lang="en-US"/>
        </a:p>
      </dgm:t>
    </dgm:pt>
    <dgm:pt modelId="{131B5E71-FE79-44A0-8EF8-87D38F938C0B}">
      <dgm:prSet/>
      <dgm:spPr/>
      <dgm:t>
        <a:bodyPr/>
        <a:lstStyle/>
        <a:p>
          <a:r>
            <a:rPr lang="en-US" dirty="0"/>
            <a:t>Rigid robots used in pipeline inspection are large, inflexible, and unsuitable for small-diameter or curved pipes.</a:t>
          </a:r>
        </a:p>
      </dgm:t>
    </dgm:pt>
    <dgm:pt modelId="{2D771914-B5EE-453C-A00B-A8BED515E8D8}" type="parTrans" cxnId="{3355CD8A-95E8-42DE-8BB4-13DE06B76AAC}">
      <dgm:prSet/>
      <dgm:spPr/>
      <dgm:t>
        <a:bodyPr/>
        <a:lstStyle/>
        <a:p>
          <a:endParaRPr lang="en-US"/>
        </a:p>
      </dgm:t>
    </dgm:pt>
    <dgm:pt modelId="{9D10D88C-C41D-4EB6-8091-6E6D6EC5DB6E}" type="sibTrans" cxnId="{3355CD8A-95E8-42DE-8BB4-13DE06B76AAC}">
      <dgm:prSet/>
      <dgm:spPr/>
      <dgm:t>
        <a:bodyPr/>
        <a:lstStyle/>
        <a:p>
          <a:endParaRPr lang="en-US"/>
        </a:p>
      </dgm:t>
    </dgm:pt>
    <dgm:pt modelId="{12D422F9-20A3-4DFB-99E9-A21A12018BF4}">
      <dgm:prSet/>
      <dgm:spPr/>
      <dgm:t>
        <a:bodyPr/>
        <a:lstStyle/>
        <a:p>
          <a:r>
            <a:rPr lang="en-US" dirty="0"/>
            <a:t>Their metallic bodies risk damaging pipe interiors and often require large access points for insertion.</a:t>
          </a:r>
        </a:p>
      </dgm:t>
    </dgm:pt>
    <dgm:pt modelId="{E32E3886-A21A-4D69-B8F2-AB987CFE4BCA}" type="parTrans" cxnId="{7B6C6D24-33FD-409B-8135-6736A6910952}">
      <dgm:prSet/>
      <dgm:spPr/>
      <dgm:t>
        <a:bodyPr/>
        <a:lstStyle/>
        <a:p>
          <a:endParaRPr lang="en-US"/>
        </a:p>
      </dgm:t>
    </dgm:pt>
    <dgm:pt modelId="{EA0F9B2E-4E80-4DC1-93A9-B881430A5081}" type="sibTrans" cxnId="{7B6C6D24-33FD-409B-8135-6736A6910952}">
      <dgm:prSet/>
      <dgm:spPr/>
      <dgm:t>
        <a:bodyPr/>
        <a:lstStyle/>
        <a:p>
          <a:endParaRPr lang="en-US"/>
        </a:p>
      </dgm:t>
    </dgm:pt>
    <dgm:pt modelId="{E8BC4E90-494C-4C6C-90CD-9E050B61A672}">
      <dgm:prSet/>
      <dgm:spPr/>
      <dgm:t>
        <a:bodyPr/>
        <a:lstStyle/>
        <a:p>
          <a:r>
            <a:rPr lang="en-US" dirty="0"/>
            <a:t>Manual inspections are hazardous and costly, exposing workers to danger and increasing operational expenses in oil and utility sectors.</a:t>
          </a:r>
        </a:p>
      </dgm:t>
    </dgm:pt>
    <dgm:pt modelId="{84AEE6CB-B08B-46C8-8349-C40B43E1F566}" type="parTrans" cxnId="{85D08A13-A624-4FDF-8B27-8D1DEE92EE04}">
      <dgm:prSet/>
      <dgm:spPr/>
      <dgm:t>
        <a:bodyPr/>
        <a:lstStyle/>
        <a:p>
          <a:endParaRPr lang="en-US"/>
        </a:p>
      </dgm:t>
    </dgm:pt>
    <dgm:pt modelId="{26AF4C26-82CC-41B6-962E-4C6512752962}" type="sibTrans" cxnId="{85D08A13-A624-4FDF-8B27-8D1DEE92EE04}">
      <dgm:prSet/>
      <dgm:spPr/>
      <dgm:t>
        <a:bodyPr/>
        <a:lstStyle/>
        <a:p>
          <a:endParaRPr lang="en-US"/>
        </a:p>
      </dgm:t>
    </dgm:pt>
    <dgm:pt modelId="{027C09C8-254F-48C3-A8E0-4FD78FC6A697}" type="pres">
      <dgm:prSet presAssocID="{B70F9BD4-92BA-400F-9CE9-1E0579B0EFB2}" presName="vert0" presStyleCnt="0">
        <dgm:presLayoutVars>
          <dgm:dir/>
          <dgm:animOne val="branch"/>
          <dgm:animLvl val="lvl"/>
        </dgm:presLayoutVars>
      </dgm:prSet>
      <dgm:spPr/>
    </dgm:pt>
    <dgm:pt modelId="{50BA0E88-210B-4A7E-AECA-636AE1B978EA}" type="pres">
      <dgm:prSet presAssocID="{131B5E71-FE79-44A0-8EF8-87D38F938C0B}" presName="thickLine" presStyleLbl="alignNode1" presStyleIdx="0" presStyleCnt="3"/>
      <dgm:spPr/>
    </dgm:pt>
    <dgm:pt modelId="{96E8DB6F-5BEC-45DB-951F-B97D2677A231}" type="pres">
      <dgm:prSet presAssocID="{131B5E71-FE79-44A0-8EF8-87D38F938C0B}" presName="horz1" presStyleCnt="0"/>
      <dgm:spPr/>
    </dgm:pt>
    <dgm:pt modelId="{0E1561C9-D3D0-4D76-A913-502A367FD189}" type="pres">
      <dgm:prSet presAssocID="{131B5E71-FE79-44A0-8EF8-87D38F938C0B}" presName="tx1" presStyleLbl="revTx" presStyleIdx="0" presStyleCnt="3"/>
      <dgm:spPr/>
    </dgm:pt>
    <dgm:pt modelId="{29341D08-6135-4000-AA1D-6F1ECAEB2A32}" type="pres">
      <dgm:prSet presAssocID="{131B5E71-FE79-44A0-8EF8-87D38F938C0B}" presName="vert1" presStyleCnt="0"/>
      <dgm:spPr/>
    </dgm:pt>
    <dgm:pt modelId="{53F68659-D9CF-44F2-936C-B16C9B7B90BC}" type="pres">
      <dgm:prSet presAssocID="{12D422F9-20A3-4DFB-99E9-A21A12018BF4}" presName="thickLine" presStyleLbl="alignNode1" presStyleIdx="1" presStyleCnt="3"/>
      <dgm:spPr/>
    </dgm:pt>
    <dgm:pt modelId="{FCFD0F81-B7F6-4C87-9931-D9B2C3469524}" type="pres">
      <dgm:prSet presAssocID="{12D422F9-20A3-4DFB-99E9-A21A12018BF4}" presName="horz1" presStyleCnt="0"/>
      <dgm:spPr/>
    </dgm:pt>
    <dgm:pt modelId="{0526D168-41D6-4144-9F28-7E0AFFA5349E}" type="pres">
      <dgm:prSet presAssocID="{12D422F9-20A3-4DFB-99E9-A21A12018BF4}" presName="tx1" presStyleLbl="revTx" presStyleIdx="1" presStyleCnt="3"/>
      <dgm:spPr/>
    </dgm:pt>
    <dgm:pt modelId="{643BECAB-2B6C-4BEE-9067-546F05C59909}" type="pres">
      <dgm:prSet presAssocID="{12D422F9-20A3-4DFB-99E9-A21A12018BF4}" presName="vert1" presStyleCnt="0"/>
      <dgm:spPr/>
    </dgm:pt>
    <dgm:pt modelId="{7F3F8AE8-2E8F-4119-84E8-7020B556E0D9}" type="pres">
      <dgm:prSet presAssocID="{E8BC4E90-494C-4C6C-90CD-9E050B61A672}" presName="thickLine" presStyleLbl="alignNode1" presStyleIdx="2" presStyleCnt="3"/>
      <dgm:spPr/>
    </dgm:pt>
    <dgm:pt modelId="{A085B4B4-4942-450B-AA9F-506D5DC0A339}" type="pres">
      <dgm:prSet presAssocID="{E8BC4E90-494C-4C6C-90CD-9E050B61A672}" presName="horz1" presStyleCnt="0"/>
      <dgm:spPr/>
    </dgm:pt>
    <dgm:pt modelId="{6C07403C-39C0-4719-8812-C06BDA0CF604}" type="pres">
      <dgm:prSet presAssocID="{E8BC4E90-494C-4C6C-90CD-9E050B61A672}" presName="tx1" presStyleLbl="revTx" presStyleIdx="2" presStyleCnt="3"/>
      <dgm:spPr/>
    </dgm:pt>
    <dgm:pt modelId="{85AB4C48-790A-44A8-B535-1F7DB1CD11FE}" type="pres">
      <dgm:prSet presAssocID="{E8BC4E90-494C-4C6C-90CD-9E050B61A672}" presName="vert1" presStyleCnt="0"/>
      <dgm:spPr/>
    </dgm:pt>
  </dgm:ptLst>
  <dgm:cxnLst>
    <dgm:cxn modelId="{85D08A13-A624-4FDF-8B27-8D1DEE92EE04}" srcId="{B70F9BD4-92BA-400F-9CE9-1E0579B0EFB2}" destId="{E8BC4E90-494C-4C6C-90CD-9E050B61A672}" srcOrd="2" destOrd="0" parTransId="{84AEE6CB-B08B-46C8-8349-C40B43E1F566}" sibTransId="{26AF4C26-82CC-41B6-962E-4C6512752962}"/>
    <dgm:cxn modelId="{7B6C6D24-33FD-409B-8135-6736A6910952}" srcId="{B70F9BD4-92BA-400F-9CE9-1E0579B0EFB2}" destId="{12D422F9-20A3-4DFB-99E9-A21A12018BF4}" srcOrd="1" destOrd="0" parTransId="{E32E3886-A21A-4D69-B8F2-AB987CFE4BCA}" sibTransId="{EA0F9B2E-4E80-4DC1-93A9-B881430A5081}"/>
    <dgm:cxn modelId="{D070C66E-4B49-4F85-AD65-7FE8AD4D0A8F}" type="presOf" srcId="{131B5E71-FE79-44A0-8EF8-87D38F938C0B}" destId="{0E1561C9-D3D0-4D76-A913-502A367FD189}" srcOrd="0" destOrd="0" presId="urn:microsoft.com/office/officeart/2008/layout/LinedList"/>
    <dgm:cxn modelId="{3355CD8A-95E8-42DE-8BB4-13DE06B76AAC}" srcId="{B70F9BD4-92BA-400F-9CE9-1E0579B0EFB2}" destId="{131B5E71-FE79-44A0-8EF8-87D38F938C0B}" srcOrd="0" destOrd="0" parTransId="{2D771914-B5EE-453C-A00B-A8BED515E8D8}" sibTransId="{9D10D88C-C41D-4EB6-8091-6E6D6EC5DB6E}"/>
    <dgm:cxn modelId="{607B81C7-0788-4003-823D-FFF900BE96DE}" type="presOf" srcId="{B70F9BD4-92BA-400F-9CE9-1E0579B0EFB2}" destId="{027C09C8-254F-48C3-A8E0-4FD78FC6A697}" srcOrd="0" destOrd="0" presId="urn:microsoft.com/office/officeart/2008/layout/LinedList"/>
    <dgm:cxn modelId="{6F27E8DB-F9D3-497E-AE78-6737BC753849}" type="presOf" srcId="{12D422F9-20A3-4DFB-99E9-A21A12018BF4}" destId="{0526D168-41D6-4144-9F28-7E0AFFA5349E}" srcOrd="0" destOrd="0" presId="urn:microsoft.com/office/officeart/2008/layout/LinedList"/>
    <dgm:cxn modelId="{3C8C0EEF-6B9D-40C0-8FD5-433DB1C4A3FB}" type="presOf" srcId="{E8BC4E90-494C-4C6C-90CD-9E050B61A672}" destId="{6C07403C-39C0-4719-8812-C06BDA0CF604}" srcOrd="0" destOrd="0" presId="urn:microsoft.com/office/officeart/2008/layout/LinedList"/>
    <dgm:cxn modelId="{C27225FF-91B0-4DD5-8D1E-FA8F69456240}" type="presParOf" srcId="{027C09C8-254F-48C3-A8E0-4FD78FC6A697}" destId="{50BA0E88-210B-4A7E-AECA-636AE1B978EA}" srcOrd="0" destOrd="0" presId="urn:microsoft.com/office/officeart/2008/layout/LinedList"/>
    <dgm:cxn modelId="{45AB802F-D10F-445C-927D-08A60AD3C942}" type="presParOf" srcId="{027C09C8-254F-48C3-A8E0-4FD78FC6A697}" destId="{96E8DB6F-5BEC-45DB-951F-B97D2677A231}" srcOrd="1" destOrd="0" presId="urn:microsoft.com/office/officeart/2008/layout/LinedList"/>
    <dgm:cxn modelId="{9386DE0A-AA38-4921-A35F-6D944F50E047}" type="presParOf" srcId="{96E8DB6F-5BEC-45DB-951F-B97D2677A231}" destId="{0E1561C9-D3D0-4D76-A913-502A367FD189}" srcOrd="0" destOrd="0" presId="urn:microsoft.com/office/officeart/2008/layout/LinedList"/>
    <dgm:cxn modelId="{22175B73-FDD5-4204-A3C8-43E374F3877E}" type="presParOf" srcId="{96E8DB6F-5BEC-45DB-951F-B97D2677A231}" destId="{29341D08-6135-4000-AA1D-6F1ECAEB2A32}" srcOrd="1" destOrd="0" presId="urn:microsoft.com/office/officeart/2008/layout/LinedList"/>
    <dgm:cxn modelId="{783FBFCC-DDFF-432E-8779-23133846A05D}" type="presParOf" srcId="{027C09C8-254F-48C3-A8E0-4FD78FC6A697}" destId="{53F68659-D9CF-44F2-936C-B16C9B7B90BC}" srcOrd="2" destOrd="0" presId="urn:microsoft.com/office/officeart/2008/layout/LinedList"/>
    <dgm:cxn modelId="{1BC55585-09F6-405B-B256-B04A70A1ACC2}" type="presParOf" srcId="{027C09C8-254F-48C3-A8E0-4FD78FC6A697}" destId="{FCFD0F81-B7F6-4C87-9931-D9B2C3469524}" srcOrd="3" destOrd="0" presId="urn:microsoft.com/office/officeart/2008/layout/LinedList"/>
    <dgm:cxn modelId="{1B5C9898-0F10-4D0E-A61A-5C600AD27F55}" type="presParOf" srcId="{FCFD0F81-B7F6-4C87-9931-D9B2C3469524}" destId="{0526D168-41D6-4144-9F28-7E0AFFA5349E}" srcOrd="0" destOrd="0" presId="urn:microsoft.com/office/officeart/2008/layout/LinedList"/>
    <dgm:cxn modelId="{8789E612-2DC0-4058-A022-4697B437B200}" type="presParOf" srcId="{FCFD0F81-B7F6-4C87-9931-D9B2C3469524}" destId="{643BECAB-2B6C-4BEE-9067-546F05C59909}" srcOrd="1" destOrd="0" presId="urn:microsoft.com/office/officeart/2008/layout/LinedList"/>
    <dgm:cxn modelId="{F208F4FD-5745-4F8D-814D-DA1B69936FF4}" type="presParOf" srcId="{027C09C8-254F-48C3-A8E0-4FD78FC6A697}" destId="{7F3F8AE8-2E8F-4119-84E8-7020B556E0D9}" srcOrd="4" destOrd="0" presId="urn:microsoft.com/office/officeart/2008/layout/LinedList"/>
    <dgm:cxn modelId="{AA8D931D-D962-49BE-9466-3FC2F3DA2C55}" type="presParOf" srcId="{027C09C8-254F-48C3-A8E0-4FD78FC6A697}" destId="{A085B4B4-4942-450B-AA9F-506D5DC0A339}" srcOrd="5" destOrd="0" presId="urn:microsoft.com/office/officeart/2008/layout/LinedList"/>
    <dgm:cxn modelId="{3C76363A-7B06-4D0E-9BC8-78DB3A20E50F}" type="presParOf" srcId="{A085B4B4-4942-450B-AA9F-506D5DC0A339}" destId="{6C07403C-39C0-4719-8812-C06BDA0CF604}" srcOrd="0" destOrd="0" presId="urn:microsoft.com/office/officeart/2008/layout/LinedList"/>
    <dgm:cxn modelId="{3E8FE3F4-EAFF-4603-937F-D1927D00E326}" type="presParOf" srcId="{A085B4B4-4942-450B-AA9F-506D5DC0A339}" destId="{85AB4C48-790A-44A8-B535-1F7DB1CD11F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119024-78F7-4BE5-BFFF-5B30CCC1E976}" type="doc">
      <dgm:prSet loTypeId="urn:microsoft.com/office/officeart/2018/2/layout/IconVerticalSolidList" loCatId="icon" qsTypeId="urn:microsoft.com/office/officeart/2005/8/quickstyle/simple1" qsCatId="simple" csTypeId="urn:microsoft.com/office/officeart/2018/5/colors/Iconchunking_neutralicontext_accent4_2" csCatId="accent4" phldr="1"/>
      <dgm:spPr/>
      <dgm:t>
        <a:bodyPr/>
        <a:lstStyle/>
        <a:p>
          <a:endParaRPr lang="en-US"/>
        </a:p>
      </dgm:t>
    </dgm:pt>
    <dgm:pt modelId="{B84FCC66-D2D3-4D27-87DE-C700EBE6EA7B}">
      <dgm:prSet/>
      <dgm:spPr/>
      <dgm:t>
        <a:bodyPr/>
        <a:lstStyle/>
        <a:p>
          <a:pPr>
            <a:lnSpc>
              <a:spcPct val="100000"/>
            </a:lnSpc>
          </a:pPr>
          <a:r>
            <a:rPr lang="en-US"/>
            <a:t>Design and simulate radial and linear soft actuators using SolidWorks and ANSYS to evaluate deformation, strain, and stress behavior under pneumatic pressure.</a:t>
          </a:r>
        </a:p>
      </dgm:t>
    </dgm:pt>
    <dgm:pt modelId="{2870EDAE-CD13-491C-88C4-C872028BC9E7}" type="parTrans" cxnId="{DA24A994-DCA0-4E32-816F-3E47B67FE46A}">
      <dgm:prSet/>
      <dgm:spPr/>
      <dgm:t>
        <a:bodyPr/>
        <a:lstStyle/>
        <a:p>
          <a:endParaRPr lang="en-US"/>
        </a:p>
      </dgm:t>
    </dgm:pt>
    <dgm:pt modelId="{FEB87A76-37A0-49A2-9589-EBC72BDB37E7}" type="sibTrans" cxnId="{DA24A994-DCA0-4E32-816F-3E47B67FE46A}">
      <dgm:prSet/>
      <dgm:spPr/>
      <dgm:t>
        <a:bodyPr/>
        <a:lstStyle/>
        <a:p>
          <a:endParaRPr lang="en-US"/>
        </a:p>
      </dgm:t>
    </dgm:pt>
    <dgm:pt modelId="{F05FB740-0EF8-4EED-8A1A-4731E0A846AC}">
      <dgm:prSet/>
      <dgm:spPr/>
      <dgm:t>
        <a:bodyPr/>
        <a:lstStyle/>
        <a:p>
          <a:pPr>
            <a:lnSpc>
              <a:spcPct val="100000"/>
            </a:lnSpc>
          </a:pPr>
          <a:r>
            <a:rPr lang="en-US"/>
            <a:t>Fabricate actuator components using 3D-printed molds and silicone casting techniques, ensuring fit, flexibility, and seal integrity.</a:t>
          </a:r>
        </a:p>
      </dgm:t>
    </dgm:pt>
    <dgm:pt modelId="{4E9853C0-E858-4472-8BFB-0A31D6515C30}" type="parTrans" cxnId="{1ED802C5-F6C7-4413-8085-4A20FACC0E12}">
      <dgm:prSet/>
      <dgm:spPr/>
      <dgm:t>
        <a:bodyPr/>
        <a:lstStyle/>
        <a:p>
          <a:endParaRPr lang="en-US"/>
        </a:p>
      </dgm:t>
    </dgm:pt>
    <dgm:pt modelId="{B2C35EF0-0830-4599-9DF5-7D6664414292}" type="sibTrans" cxnId="{1ED802C5-F6C7-4413-8085-4A20FACC0E12}">
      <dgm:prSet/>
      <dgm:spPr/>
      <dgm:t>
        <a:bodyPr/>
        <a:lstStyle/>
        <a:p>
          <a:endParaRPr lang="en-US"/>
        </a:p>
      </dgm:t>
    </dgm:pt>
    <dgm:pt modelId="{F678C33F-E975-411D-91B1-54004F1ABB75}">
      <dgm:prSet/>
      <dgm:spPr/>
      <dgm:t>
        <a:bodyPr/>
        <a:lstStyle/>
        <a:p>
          <a:pPr>
            <a:lnSpc>
              <a:spcPct val="100000"/>
            </a:lnSpc>
          </a:pPr>
          <a:r>
            <a:rPr lang="en-US"/>
            <a:t>Validate performance through simulation and physical assembly, comparing results to safety thresholds and expected actuator behavior in pipeline environments.</a:t>
          </a:r>
        </a:p>
      </dgm:t>
    </dgm:pt>
    <dgm:pt modelId="{685D1F6D-9EA1-4D7B-A8BB-10773995ACAC}" type="parTrans" cxnId="{C9DEE313-0DA5-4BA4-BB76-DAF53325CA40}">
      <dgm:prSet/>
      <dgm:spPr/>
      <dgm:t>
        <a:bodyPr/>
        <a:lstStyle/>
        <a:p>
          <a:endParaRPr lang="en-US"/>
        </a:p>
      </dgm:t>
    </dgm:pt>
    <dgm:pt modelId="{13F8363E-00C8-4A92-AD2A-DCEE4B5F650E}" type="sibTrans" cxnId="{C9DEE313-0DA5-4BA4-BB76-DAF53325CA40}">
      <dgm:prSet/>
      <dgm:spPr/>
      <dgm:t>
        <a:bodyPr/>
        <a:lstStyle/>
        <a:p>
          <a:endParaRPr lang="en-US"/>
        </a:p>
      </dgm:t>
    </dgm:pt>
    <dgm:pt modelId="{46AB22DD-B2BC-44DC-94F9-4B52B34B10C6}" type="pres">
      <dgm:prSet presAssocID="{9B119024-78F7-4BE5-BFFF-5B30CCC1E976}" presName="root" presStyleCnt="0">
        <dgm:presLayoutVars>
          <dgm:dir/>
          <dgm:resizeHandles val="exact"/>
        </dgm:presLayoutVars>
      </dgm:prSet>
      <dgm:spPr/>
    </dgm:pt>
    <dgm:pt modelId="{B3A803C9-56DA-4A3E-8492-75E37CFBE12F}" type="pres">
      <dgm:prSet presAssocID="{B84FCC66-D2D3-4D27-87DE-C700EBE6EA7B}" presName="compNode" presStyleCnt="0"/>
      <dgm:spPr/>
    </dgm:pt>
    <dgm:pt modelId="{192D52DF-8EE5-49A1-80F1-6ECADFAAA7AD}" type="pres">
      <dgm:prSet presAssocID="{B84FCC66-D2D3-4D27-87DE-C700EBE6EA7B}" presName="bgRect" presStyleLbl="bgShp" presStyleIdx="0" presStyleCnt="3"/>
      <dgm:spPr/>
    </dgm:pt>
    <dgm:pt modelId="{2CCC5E8A-A611-4793-BF89-EADB22CF9BAD}" type="pres">
      <dgm:prSet presAssocID="{B84FCC66-D2D3-4D27-87DE-C700EBE6EA7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idge scene"/>
        </a:ext>
      </dgm:extLst>
    </dgm:pt>
    <dgm:pt modelId="{912FD8B0-004D-485F-B2D0-D5C8EBDC1107}" type="pres">
      <dgm:prSet presAssocID="{B84FCC66-D2D3-4D27-87DE-C700EBE6EA7B}" presName="spaceRect" presStyleCnt="0"/>
      <dgm:spPr/>
    </dgm:pt>
    <dgm:pt modelId="{C438C98B-B77D-4E97-9BD3-887B75F3F2D4}" type="pres">
      <dgm:prSet presAssocID="{B84FCC66-D2D3-4D27-87DE-C700EBE6EA7B}" presName="parTx" presStyleLbl="revTx" presStyleIdx="0" presStyleCnt="3">
        <dgm:presLayoutVars>
          <dgm:chMax val="0"/>
          <dgm:chPref val="0"/>
        </dgm:presLayoutVars>
      </dgm:prSet>
      <dgm:spPr/>
    </dgm:pt>
    <dgm:pt modelId="{E6E8E2E4-EF09-4946-9063-D79F55CB2390}" type="pres">
      <dgm:prSet presAssocID="{FEB87A76-37A0-49A2-9589-EBC72BDB37E7}" presName="sibTrans" presStyleCnt="0"/>
      <dgm:spPr/>
    </dgm:pt>
    <dgm:pt modelId="{6AD20F79-7C66-4805-945B-D3994020F6E7}" type="pres">
      <dgm:prSet presAssocID="{F05FB740-0EF8-4EED-8A1A-4731E0A846AC}" presName="compNode" presStyleCnt="0"/>
      <dgm:spPr/>
    </dgm:pt>
    <dgm:pt modelId="{0123BF6C-366A-4EC4-888E-46344FC83A4F}" type="pres">
      <dgm:prSet presAssocID="{F05FB740-0EF8-4EED-8A1A-4731E0A846AC}" presName="bgRect" presStyleLbl="bgShp" presStyleIdx="1" presStyleCnt="3"/>
      <dgm:spPr/>
    </dgm:pt>
    <dgm:pt modelId="{A240BC58-64AA-4592-9EE1-796631CC13EB}" type="pres">
      <dgm:prSet presAssocID="{F05FB740-0EF8-4EED-8A1A-4731E0A846A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eal"/>
        </a:ext>
      </dgm:extLst>
    </dgm:pt>
    <dgm:pt modelId="{E1E11E83-630D-47EA-AA8A-1A1501DC1D72}" type="pres">
      <dgm:prSet presAssocID="{F05FB740-0EF8-4EED-8A1A-4731E0A846AC}" presName="spaceRect" presStyleCnt="0"/>
      <dgm:spPr/>
    </dgm:pt>
    <dgm:pt modelId="{79F87880-2C56-4401-865E-800E35EFE2D6}" type="pres">
      <dgm:prSet presAssocID="{F05FB740-0EF8-4EED-8A1A-4731E0A846AC}" presName="parTx" presStyleLbl="revTx" presStyleIdx="1" presStyleCnt="3">
        <dgm:presLayoutVars>
          <dgm:chMax val="0"/>
          <dgm:chPref val="0"/>
        </dgm:presLayoutVars>
      </dgm:prSet>
      <dgm:spPr/>
    </dgm:pt>
    <dgm:pt modelId="{428A468D-96F5-4539-ACE8-0ADFAE391B01}" type="pres">
      <dgm:prSet presAssocID="{B2C35EF0-0830-4599-9DF5-7D6664414292}" presName="sibTrans" presStyleCnt="0"/>
      <dgm:spPr/>
    </dgm:pt>
    <dgm:pt modelId="{6EBD9A23-8CDF-47D1-8267-8240D4954C6A}" type="pres">
      <dgm:prSet presAssocID="{F678C33F-E975-411D-91B1-54004F1ABB75}" presName="compNode" presStyleCnt="0"/>
      <dgm:spPr/>
    </dgm:pt>
    <dgm:pt modelId="{75B2156D-922C-4E53-A9E2-BBBF30A3536E}" type="pres">
      <dgm:prSet presAssocID="{F678C33F-E975-411D-91B1-54004F1ABB75}" presName="bgRect" presStyleLbl="bgShp" presStyleIdx="2" presStyleCnt="3"/>
      <dgm:spPr/>
    </dgm:pt>
    <dgm:pt modelId="{005FD725-6926-444E-98E9-64BDF26F5E1E}" type="pres">
      <dgm:prSet presAssocID="{F678C33F-E975-411D-91B1-54004F1ABB7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27751912-4B3D-48E8-8118-E487667C0897}" type="pres">
      <dgm:prSet presAssocID="{F678C33F-E975-411D-91B1-54004F1ABB75}" presName="spaceRect" presStyleCnt="0"/>
      <dgm:spPr/>
    </dgm:pt>
    <dgm:pt modelId="{29E53D5E-AE64-4892-99DD-5CA8B7B05785}" type="pres">
      <dgm:prSet presAssocID="{F678C33F-E975-411D-91B1-54004F1ABB75}" presName="parTx" presStyleLbl="revTx" presStyleIdx="2" presStyleCnt="3">
        <dgm:presLayoutVars>
          <dgm:chMax val="0"/>
          <dgm:chPref val="0"/>
        </dgm:presLayoutVars>
      </dgm:prSet>
      <dgm:spPr/>
    </dgm:pt>
  </dgm:ptLst>
  <dgm:cxnLst>
    <dgm:cxn modelId="{C9DEE313-0DA5-4BA4-BB76-DAF53325CA40}" srcId="{9B119024-78F7-4BE5-BFFF-5B30CCC1E976}" destId="{F678C33F-E975-411D-91B1-54004F1ABB75}" srcOrd="2" destOrd="0" parTransId="{685D1F6D-9EA1-4D7B-A8BB-10773995ACAC}" sibTransId="{13F8363E-00C8-4A92-AD2A-DCEE4B5F650E}"/>
    <dgm:cxn modelId="{DB89ED14-1FFA-4CB8-9264-4274081FDE50}" type="presOf" srcId="{9B119024-78F7-4BE5-BFFF-5B30CCC1E976}" destId="{46AB22DD-B2BC-44DC-94F9-4B52B34B10C6}" srcOrd="0" destOrd="0" presId="urn:microsoft.com/office/officeart/2018/2/layout/IconVerticalSolidList"/>
    <dgm:cxn modelId="{CCF42A20-D8B9-4A12-AC43-4FB144432DB4}" type="presOf" srcId="{B84FCC66-D2D3-4D27-87DE-C700EBE6EA7B}" destId="{C438C98B-B77D-4E97-9BD3-887B75F3F2D4}" srcOrd="0" destOrd="0" presId="urn:microsoft.com/office/officeart/2018/2/layout/IconVerticalSolidList"/>
    <dgm:cxn modelId="{DA24A994-DCA0-4E32-816F-3E47B67FE46A}" srcId="{9B119024-78F7-4BE5-BFFF-5B30CCC1E976}" destId="{B84FCC66-D2D3-4D27-87DE-C700EBE6EA7B}" srcOrd="0" destOrd="0" parTransId="{2870EDAE-CD13-491C-88C4-C872028BC9E7}" sibTransId="{FEB87A76-37A0-49A2-9589-EBC72BDB37E7}"/>
    <dgm:cxn modelId="{0D2DD898-CFAF-440C-8041-83CF0BBED83C}" type="presOf" srcId="{F678C33F-E975-411D-91B1-54004F1ABB75}" destId="{29E53D5E-AE64-4892-99DD-5CA8B7B05785}" srcOrd="0" destOrd="0" presId="urn:microsoft.com/office/officeart/2018/2/layout/IconVerticalSolidList"/>
    <dgm:cxn modelId="{1ED802C5-F6C7-4413-8085-4A20FACC0E12}" srcId="{9B119024-78F7-4BE5-BFFF-5B30CCC1E976}" destId="{F05FB740-0EF8-4EED-8A1A-4731E0A846AC}" srcOrd="1" destOrd="0" parTransId="{4E9853C0-E858-4472-8BFB-0A31D6515C30}" sibTransId="{B2C35EF0-0830-4599-9DF5-7D6664414292}"/>
    <dgm:cxn modelId="{1F0FB7CD-8A86-4F7A-AA1B-38BB4662D48F}" type="presOf" srcId="{F05FB740-0EF8-4EED-8A1A-4731E0A846AC}" destId="{79F87880-2C56-4401-865E-800E35EFE2D6}" srcOrd="0" destOrd="0" presId="urn:microsoft.com/office/officeart/2018/2/layout/IconVerticalSolidList"/>
    <dgm:cxn modelId="{3E1C827A-D25B-48B9-9642-4AD35284F8B1}" type="presParOf" srcId="{46AB22DD-B2BC-44DC-94F9-4B52B34B10C6}" destId="{B3A803C9-56DA-4A3E-8492-75E37CFBE12F}" srcOrd="0" destOrd="0" presId="urn:microsoft.com/office/officeart/2018/2/layout/IconVerticalSolidList"/>
    <dgm:cxn modelId="{095DA0D8-DCFB-4D1A-9F0A-B3B4A16851AD}" type="presParOf" srcId="{B3A803C9-56DA-4A3E-8492-75E37CFBE12F}" destId="{192D52DF-8EE5-49A1-80F1-6ECADFAAA7AD}" srcOrd="0" destOrd="0" presId="urn:microsoft.com/office/officeart/2018/2/layout/IconVerticalSolidList"/>
    <dgm:cxn modelId="{B7229BEA-62E3-49C5-AD70-4924389F7EFF}" type="presParOf" srcId="{B3A803C9-56DA-4A3E-8492-75E37CFBE12F}" destId="{2CCC5E8A-A611-4793-BF89-EADB22CF9BAD}" srcOrd="1" destOrd="0" presId="urn:microsoft.com/office/officeart/2018/2/layout/IconVerticalSolidList"/>
    <dgm:cxn modelId="{C7ECA0D5-2C0A-47B3-B30A-DF70D0AFC9CD}" type="presParOf" srcId="{B3A803C9-56DA-4A3E-8492-75E37CFBE12F}" destId="{912FD8B0-004D-485F-B2D0-D5C8EBDC1107}" srcOrd="2" destOrd="0" presId="urn:microsoft.com/office/officeart/2018/2/layout/IconVerticalSolidList"/>
    <dgm:cxn modelId="{C4F87451-8A4C-4C4A-A50E-595FFC908198}" type="presParOf" srcId="{B3A803C9-56DA-4A3E-8492-75E37CFBE12F}" destId="{C438C98B-B77D-4E97-9BD3-887B75F3F2D4}" srcOrd="3" destOrd="0" presId="urn:microsoft.com/office/officeart/2018/2/layout/IconVerticalSolidList"/>
    <dgm:cxn modelId="{A311C65C-1608-4DCF-9609-AACE48CDC436}" type="presParOf" srcId="{46AB22DD-B2BC-44DC-94F9-4B52B34B10C6}" destId="{E6E8E2E4-EF09-4946-9063-D79F55CB2390}" srcOrd="1" destOrd="0" presId="urn:microsoft.com/office/officeart/2018/2/layout/IconVerticalSolidList"/>
    <dgm:cxn modelId="{DFE0ADFE-7ED3-4B96-BDB4-4C349C5B5346}" type="presParOf" srcId="{46AB22DD-B2BC-44DC-94F9-4B52B34B10C6}" destId="{6AD20F79-7C66-4805-945B-D3994020F6E7}" srcOrd="2" destOrd="0" presId="urn:microsoft.com/office/officeart/2018/2/layout/IconVerticalSolidList"/>
    <dgm:cxn modelId="{F75B7E37-8B7A-49DF-8293-58A4788273D8}" type="presParOf" srcId="{6AD20F79-7C66-4805-945B-D3994020F6E7}" destId="{0123BF6C-366A-4EC4-888E-46344FC83A4F}" srcOrd="0" destOrd="0" presId="urn:microsoft.com/office/officeart/2018/2/layout/IconVerticalSolidList"/>
    <dgm:cxn modelId="{3D79ACC7-8BF1-4F69-9BA2-E02952BD0A99}" type="presParOf" srcId="{6AD20F79-7C66-4805-945B-D3994020F6E7}" destId="{A240BC58-64AA-4592-9EE1-796631CC13EB}" srcOrd="1" destOrd="0" presId="urn:microsoft.com/office/officeart/2018/2/layout/IconVerticalSolidList"/>
    <dgm:cxn modelId="{1DD793C9-DD61-49A4-9786-79B98E958048}" type="presParOf" srcId="{6AD20F79-7C66-4805-945B-D3994020F6E7}" destId="{E1E11E83-630D-47EA-AA8A-1A1501DC1D72}" srcOrd="2" destOrd="0" presId="urn:microsoft.com/office/officeart/2018/2/layout/IconVerticalSolidList"/>
    <dgm:cxn modelId="{3818EBF1-54CC-4E8F-9E7A-D26C219F3B70}" type="presParOf" srcId="{6AD20F79-7C66-4805-945B-D3994020F6E7}" destId="{79F87880-2C56-4401-865E-800E35EFE2D6}" srcOrd="3" destOrd="0" presId="urn:microsoft.com/office/officeart/2018/2/layout/IconVerticalSolidList"/>
    <dgm:cxn modelId="{49A422E7-4DC3-4ED7-96EB-387430D4E8D4}" type="presParOf" srcId="{46AB22DD-B2BC-44DC-94F9-4B52B34B10C6}" destId="{428A468D-96F5-4539-ACE8-0ADFAE391B01}" srcOrd="3" destOrd="0" presId="urn:microsoft.com/office/officeart/2018/2/layout/IconVerticalSolidList"/>
    <dgm:cxn modelId="{14BE9D6F-5029-4857-A2A6-04DA3FC884A5}" type="presParOf" srcId="{46AB22DD-B2BC-44DC-94F9-4B52B34B10C6}" destId="{6EBD9A23-8CDF-47D1-8267-8240D4954C6A}" srcOrd="4" destOrd="0" presId="urn:microsoft.com/office/officeart/2018/2/layout/IconVerticalSolidList"/>
    <dgm:cxn modelId="{4A60E89D-BE1A-4FF1-AFA2-45EF6E9E52E0}" type="presParOf" srcId="{6EBD9A23-8CDF-47D1-8267-8240D4954C6A}" destId="{75B2156D-922C-4E53-A9E2-BBBF30A3536E}" srcOrd="0" destOrd="0" presId="urn:microsoft.com/office/officeart/2018/2/layout/IconVerticalSolidList"/>
    <dgm:cxn modelId="{7E8F6832-B981-4CC9-B1BC-0EA69687E1CB}" type="presParOf" srcId="{6EBD9A23-8CDF-47D1-8267-8240D4954C6A}" destId="{005FD725-6926-444E-98E9-64BDF26F5E1E}" srcOrd="1" destOrd="0" presId="urn:microsoft.com/office/officeart/2018/2/layout/IconVerticalSolidList"/>
    <dgm:cxn modelId="{1B221264-A6D7-4731-B9E0-16DFFAC0F2E2}" type="presParOf" srcId="{6EBD9A23-8CDF-47D1-8267-8240D4954C6A}" destId="{27751912-4B3D-48E8-8118-E487667C0897}" srcOrd="2" destOrd="0" presId="urn:microsoft.com/office/officeart/2018/2/layout/IconVerticalSolidList"/>
    <dgm:cxn modelId="{EC81F55F-D98A-48A1-9E01-30D66816BE61}" type="presParOf" srcId="{6EBD9A23-8CDF-47D1-8267-8240D4954C6A}" destId="{29E53D5E-AE64-4892-99DD-5CA8B7B0578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BEC778A-C79D-468D-B4D7-29CC39E0C4DE}"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58B1D07-091F-463D-A844-AFB6A036BC12}">
      <dgm:prSet/>
      <dgm:spPr/>
      <dgm:t>
        <a:bodyPr/>
        <a:lstStyle/>
        <a:p>
          <a:r>
            <a:rPr lang="en-US"/>
            <a:t>We successfully designed and developed a low-cost, bio-inspired soft robot tailored for pipeline inspection, addressing key challenges in narrow and hazardous environments.</a:t>
          </a:r>
        </a:p>
      </dgm:t>
    </dgm:pt>
    <dgm:pt modelId="{9465C3DB-409B-4AB7-B4A3-D815A456559C}" type="parTrans" cxnId="{9CE916D5-9690-4453-B211-164BAFE43519}">
      <dgm:prSet/>
      <dgm:spPr/>
      <dgm:t>
        <a:bodyPr/>
        <a:lstStyle/>
        <a:p>
          <a:endParaRPr lang="en-US"/>
        </a:p>
      </dgm:t>
    </dgm:pt>
    <dgm:pt modelId="{0C9E0BBA-D743-42E4-B0FF-7884B6FC42A4}" type="sibTrans" cxnId="{9CE916D5-9690-4453-B211-164BAFE43519}">
      <dgm:prSet/>
      <dgm:spPr/>
      <dgm:t>
        <a:bodyPr/>
        <a:lstStyle/>
        <a:p>
          <a:endParaRPr lang="en-US"/>
        </a:p>
      </dgm:t>
    </dgm:pt>
    <dgm:pt modelId="{11D4BD9F-4FB0-4675-B980-41B22868259F}">
      <dgm:prSet/>
      <dgm:spPr/>
      <dgm:t>
        <a:bodyPr/>
        <a:lstStyle/>
        <a:p>
          <a:r>
            <a:rPr lang="en-US"/>
            <a:t>✅ The modular system — including the balloon, linear actuator, and connector — was effectively prototyped using 3D printing and mold casting techniques.</a:t>
          </a:r>
        </a:p>
      </dgm:t>
    </dgm:pt>
    <dgm:pt modelId="{306B6368-E722-40A5-A24A-15088E97AD54}" type="parTrans" cxnId="{7B3A6D34-F6B7-4B9E-997A-92C7EE732989}">
      <dgm:prSet/>
      <dgm:spPr/>
      <dgm:t>
        <a:bodyPr/>
        <a:lstStyle/>
        <a:p>
          <a:endParaRPr lang="en-US"/>
        </a:p>
      </dgm:t>
    </dgm:pt>
    <dgm:pt modelId="{F745AD23-9DC6-4F02-8719-ACC7E1950813}" type="sibTrans" cxnId="{7B3A6D34-F6B7-4B9E-997A-92C7EE732989}">
      <dgm:prSet/>
      <dgm:spPr/>
      <dgm:t>
        <a:bodyPr/>
        <a:lstStyle/>
        <a:p>
          <a:endParaRPr lang="en-US"/>
        </a:p>
      </dgm:t>
    </dgm:pt>
    <dgm:pt modelId="{4BBE9DD7-9DE9-4347-A502-0E006C7F7325}">
      <dgm:prSet/>
      <dgm:spPr/>
      <dgm:t>
        <a:bodyPr/>
        <a:lstStyle/>
        <a:p>
          <a:r>
            <a:rPr lang="en-US"/>
            <a:t>✅ Simulation results showed satisfactory elastic strain, deformation, and stress performance, confirming the design’s feasibility under operational conditions.</a:t>
          </a:r>
        </a:p>
      </dgm:t>
    </dgm:pt>
    <dgm:pt modelId="{FB31FAC6-6D7C-4476-87EA-C594B9024447}" type="parTrans" cxnId="{7900DCEC-2B8A-4510-A94A-2F5D8E555BEE}">
      <dgm:prSet/>
      <dgm:spPr/>
      <dgm:t>
        <a:bodyPr/>
        <a:lstStyle/>
        <a:p>
          <a:endParaRPr lang="en-US"/>
        </a:p>
      </dgm:t>
    </dgm:pt>
    <dgm:pt modelId="{4DBDA24F-27EA-48E3-BA8A-65AD37F98B3E}" type="sibTrans" cxnId="{7900DCEC-2B8A-4510-A94A-2F5D8E555BEE}">
      <dgm:prSet/>
      <dgm:spPr/>
      <dgm:t>
        <a:bodyPr/>
        <a:lstStyle/>
        <a:p>
          <a:endParaRPr lang="en-US"/>
        </a:p>
      </dgm:t>
    </dgm:pt>
    <dgm:pt modelId="{C056B044-EBB8-477E-9D79-0D9D22906AD1}">
      <dgm:prSet/>
      <dgm:spPr/>
      <dgm:t>
        <a:bodyPr/>
        <a:lstStyle/>
        <a:p>
          <a:r>
            <a:rPr lang="en-US"/>
            <a:t>✅ The final assembly demonstrated good extension (60% increase in length) and reliable gripping, validating the functional integration of all components.</a:t>
          </a:r>
        </a:p>
      </dgm:t>
    </dgm:pt>
    <dgm:pt modelId="{6E704581-8A28-454C-8EE7-4B8A9302621E}" type="parTrans" cxnId="{AF4DD1B0-D7DC-4EE4-A65B-A6192A225745}">
      <dgm:prSet/>
      <dgm:spPr/>
      <dgm:t>
        <a:bodyPr/>
        <a:lstStyle/>
        <a:p>
          <a:endParaRPr lang="en-US"/>
        </a:p>
      </dgm:t>
    </dgm:pt>
    <dgm:pt modelId="{CA716ADA-47CB-4421-9490-C1EBBCD7FB70}" type="sibTrans" cxnId="{AF4DD1B0-D7DC-4EE4-A65B-A6192A225745}">
      <dgm:prSet/>
      <dgm:spPr/>
      <dgm:t>
        <a:bodyPr/>
        <a:lstStyle/>
        <a:p>
          <a:endParaRPr lang="en-US"/>
        </a:p>
      </dgm:t>
    </dgm:pt>
    <dgm:pt modelId="{A52FAFCA-8727-4C6C-9F45-461324F53116}">
      <dgm:prSet/>
      <dgm:spPr/>
      <dgm:t>
        <a:bodyPr/>
        <a:lstStyle/>
        <a:p>
          <a:r>
            <a:rPr lang="en-US"/>
            <a:t>✅ This work provides a promising foundation for future enhancements, such as automation, sensor integration, and real-world pipeline testing, to further improve adaptability and safety in inspection tasks.</a:t>
          </a:r>
        </a:p>
      </dgm:t>
    </dgm:pt>
    <dgm:pt modelId="{2DC7A069-3997-45EE-B30F-574254CE9C40}" type="parTrans" cxnId="{28E7802D-85B3-44CE-9AEF-B15BD3B6C2A4}">
      <dgm:prSet/>
      <dgm:spPr/>
      <dgm:t>
        <a:bodyPr/>
        <a:lstStyle/>
        <a:p>
          <a:endParaRPr lang="en-US"/>
        </a:p>
      </dgm:t>
    </dgm:pt>
    <dgm:pt modelId="{5EEA58C8-C56D-473B-8213-CFDB792E67F3}" type="sibTrans" cxnId="{28E7802D-85B3-44CE-9AEF-B15BD3B6C2A4}">
      <dgm:prSet/>
      <dgm:spPr/>
      <dgm:t>
        <a:bodyPr/>
        <a:lstStyle/>
        <a:p>
          <a:endParaRPr lang="en-US"/>
        </a:p>
      </dgm:t>
    </dgm:pt>
    <dgm:pt modelId="{4FB35286-C7D0-4FF1-8C69-22F56646C8FF}" type="pres">
      <dgm:prSet presAssocID="{8BEC778A-C79D-468D-B4D7-29CC39E0C4DE}" presName="root" presStyleCnt="0">
        <dgm:presLayoutVars>
          <dgm:dir/>
          <dgm:resizeHandles val="exact"/>
        </dgm:presLayoutVars>
      </dgm:prSet>
      <dgm:spPr/>
    </dgm:pt>
    <dgm:pt modelId="{FA1F5C11-F957-41A5-A9D9-501F2256C0E4}" type="pres">
      <dgm:prSet presAssocID="{8BEC778A-C79D-468D-B4D7-29CC39E0C4DE}" presName="container" presStyleCnt="0">
        <dgm:presLayoutVars>
          <dgm:dir/>
          <dgm:resizeHandles val="exact"/>
        </dgm:presLayoutVars>
      </dgm:prSet>
      <dgm:spPr/>
    </dgm:pt>
    <dgm:pt modelId="{F3A6679C-0AC9-4EE2-B8BA-EE17C57524EB}" type="pres">
      <dgm:prSet presAssocID="{758B1D07-091F-463D-A844-AFB6A036BC12}" presName="compNode" presStyleCnt="0"/>
      <dgm:spPr/>
    </dgm:pt>
    <dgm:pt modelId="{5A210616-36BD-4473-AEF1-FEE69C315223}" type="pres">
      <dgm:prSet presAssocID="{758B1D07-091F-463D-A844-AFB6A036BC12}" presName="iconBgRect" presStyleLbl="bgShp" presStyleIdx="0" presStyleCnt="5"/>
      <dgm:spPr/>
    </dgm:pt>
    <dgm:pt modelId="{EF6E4B8D-9E47-4ECE-8B92-271F5DA3D157}" type="pres">
      <dgm:prSet presAssocID="{758B1D07-091F-463D-A844-AFB6A036BC1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bot"/>
        </a:ext>
      </dgm:extLst>
    </dgm:pt>
    <dgm:pt modelId="{8621755D-2D3C-4FDD-8B75-D18663241C4D}" type="pres">
      <dgm:prSet presAssocID="{758B1D07-091F-463D-A844-AFB6A036BC12}" presName="spaceRect" presStyleCnt="0"/>
      <dgm:spPr/>
    </dgm:pt>
    <dgm:pt modelId="{16D106AA-CC66-49FF-A85D-BCE146AFAF4B}" type="pres">
      <dgm:prSet presAssocID="{758B1D07-091F-463D-A844-AFB6A036BC12}" presName="textRect" presStyleLbl="revTx" presStyleIdx="0" presStyleCnt="5">
        <dgm:presLayoutVars>
          <dgm:chMax val="1"/>
          <dgm:chPref val="1"/>
        </dgm:presLayoutVars>
      </dgm:prSet>
      <dgm:spPr/>
    </dgm:pt>
    <dgm:pt modelId="{F1513668-F588-4CA2-9A52-97EB3CB39543}" type="pres">
      <dgm:prSet presAssocID="{0C9E0BBA-D743-42E4-B0FF-7884B6FC42A4}" presName="sibTrans" presStyleLbl="sibTrans2D1" presStyleIdx="0" presStyleCnt="0"/>
      <dgm:spPr/>
    </dgm:pt>
    <dgm:pt modelId="{29432B02-55C9-4715-97F8-B0CE0B539190}" type="pres">
      <dgm:prSet presAssocID="{11D4BD9F-4FB0-4675-B980-41B22868259F}" presName="compNode" presStyleCnt="0"/>
      <dgm:spPr/>
    </dgm:pt>
    <dgm:pt modelId="{53CC2D23-7514-41D8-B1C3-A15543FE1C2B}" type="pres">
      <dgm:prSet presAssocID="{11D4BD9F-4FB0-4675-B980-41B22868259F}" presName="iconBgRect" presStyleLbl="bgShp" presStyleIdx="1" presStyleCnt="5"/>
      <dgm:spPr/>
    </dgm:pt>
    <dgm:pt modelId="{B77439D0-68B5-4C96-B121-253C8C22992B}" type="pres">
      <dgm:prSet presAssocID="{11D4BD9F-4FB0-4675-B980-41B22868259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nner"/>
        </a:ext>
      </dgm:extLst>
    </dgm:pt>
    <dgm:pt modelId="{CF3547CD-266B-41D3-A53B-3801B740E43B}" type="pres">
      <dgm:prSet presAssocID="{11D4BD9F-4FB0-4675-B980-41B22868259F}" presName="spaceRect" presStyleCnt="0"/>
      <dgm:spPr/>
    </dgm:pt>
    <dgm:pt modelId="{1D8E1293-96BA-41BB-BA0C-0ADB27EC5112}" type="pres">
      <dgm:prSet presAssocID="{11D4BD9F-4FB0-4675-B980-41B22868259F}" presName="textRect" presStyleLbl="revTx" presStyleIdx="1" presStyleCnt="5">
        <dgm:presLayoutVars>
          <dgm:chMax val="1"/>
          <dgm:chPref val="1"/>
        </dgm:presLayoutVars>
      </dgm:prSet>
      <dgm:spPr/>
    </dgm:pt>
    <dgm:pt modelId="{2DE73C3D-92B6-45A4-9B46-7D1623C61EB2}" type="pres">
      <dgm:prSet presAssocID="{F745AD23-9DC6-4F02-8719-ACC7E1950813}" presName="sibTrans" presStyleLbl="sibTrans2D1" presStyleIdx="0" presStyleCnt="0"/>
      <dgm:spPr/>
    </dgm:pt>
    <dgm:pt modelId="{621A9108-C1A4-405F-94C4-0FEF552E7224}" type="pres">
      <dgm:prSet presAssocID="{4BBE9DD7-9DE9-4347-A502-0E006C7F7325}" presName="compNode" presStyleCnt="0"/>
      <dgm:spPr/>
    </dgm:pt>
    <dgm:pt modelId="{9255BB0E-8DA6-4B5A-8015-ECFBC1FD0582}" type="pres">
      <dgm:prSet presAssocID="{4BBE9DD7-9DE9-4347-A502-0E006C7F7325}" presName="iconBgRect" presStyleLbl="bgShp" presStyleIdx="2" presStyleCnt="5"/>
      <dgm:spPr/>
    </dgm:pt>
    <dgm:pt modelId="{96C076F3-DE1C-41E2-98E3-73257A0D1301}" type="pres">
      <dgm:prSet presAssocID="{4BBE9DD7-9DE9-4347-A502-0E006C7F732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ome"/>
        </a:ext>
      </dgm:extLst>
    </dgm:pt>
    <dgm:pt modelId="{2A3984D0-A402-4C8E-8683-EE94896ED7D8}" type="pres">
      <dgm:prSet presAssocID="{4BBE9DD7-9DE9-4347-A502-0E006C7F7325}" presName="spaceRect" presStyleCnt="0"/>
      <dgm:spPr/>
    </dgm:pt>
    <dgm:pt modelId="{1EEA555F-EA4C-4338-BFC7-B7B59BBACB75}" type="pres">
      <dgm:prSet presAssocID="{4BBE9DD7-9DE9-4347-A502-0E006C7F7325}" presName="textRect" presStyleLbl="revTx" presStyleIdx="2" presStyleCnt="5">
        <dgm:presLayoutVars>
          <dgm:chMax val="1"/>
          <dgm:chPref val="1"/>
        </dgm:presLayoutVars>
      </dgm:prSet>
      <dgm:spPr/>
    </dgm:pt>
    <dgm:pt modelId="{C229FAAC-B24C-42E9-8B71-2F9AA6DED113}" type="pres">
      <dgm:prSet presAssocID="{4DBDA24F-27EA-48E3-BA8A-65AD37F98B3E}" presName="sibTrans" presStyleLbl="sibTrans2D1" presStyleIdx="0" presStyleCnt="0"/>
      <dgm:spPr/>
    </dgm:pt>
    <dgm:pt modelId="{81A3774C-95E7-4CDE-8371-7706D128B903}" type="pres">
      <dgm:prSet presAssocID="{C056B044-EBB8-477E-9D79-0D9D22906AD1}" presName="compNode" presStyleCnt="0"/>
      <dgm:spPr/>
    </dgm:pt>
    <dgm:pt modelId="{48D6E467-4A28-4EC4-A5F6-B8E834680844}" type="pres">
      <dgm:prSet presAssocID="{C056B044-EBB8-477E-9D79-0D9D22906AD1}" presName="iconBgRect" presStyleLbl="bgShp" presStyleIdx="3" presStyleCnt="5"/>
      <dgm:spPr/>
    </dgm:pt>
    <dgm:pt modelId="{2052562D-B92F-4E43-9D59-21E44C973D77}" type="pres">
      <dgm:prSet presAssocID="{C056B044-EBB8-477E-9D79-0D9D22906AD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anching Diagram"/>
        </a:ext>
      </dgm:extLst>
    </dgm:pt>
    <dgm:pt modelId="{2408CABF-CF1A-46DE-B4AF-0170FD5775FD}" type="pres">
      <dgm:prSet presAssocID="{C056B044-EBB8-477E-9D79-0D9D22906AD1}" presName="spaceRect" presStyleCnt="0"/>
      <dgm:spPr/>
    </dgm:pt>
    <dgm:pt modelId="{4BDC1981-A196-4A9C-A956-0AF611356E38}" type="pres">
      <dgm:prSet presAssocID="{C056B044-EBB8-477E-9D79-0D9D22906AD1}" presName="textRect" presStyleLbl="revTx" presStyleIdx="3" presStyleCnt="5">
        <dgm:presLayoutVars>
          <dgm:chMax val="1"/>
          <dgm:chPref val="1"/>
        </dgm:presLayoutVars>
      </dgm:prSet>
      <dgm:spPr/>
    </dgm:pt>
    <dgm:pt modelId="{69A9C4ED-07D4-4096-9662-1459A46A5163}" type="pres">
      <dgm:prSet presAssocID="{CA716ADA-47CB-4421-9490-C1EBBCD7FB70}" presName="sibTrans" presStyleLbl="sibTrans2D1" presStyleIdx="0" presStyleCnt="0"/>
      <dgm:spPr/>
    </dgm:pt>
    <dgm:pt modelId="{25C9396F-8CE2-425E-BE71-19A7D86B3CAC}" type="pres">
      <dgm:prSet presAssocID="{A52FAFCA-8727-4C6C-9F45-461324F53116}" presName="compNode" presStyleCnt="0"/>
      <dgm:spPr/>
    </dgm:pt>
    <dgm:pt modelId="{CA479221-7AB3-4170-98D2-DF9C844EC811}" type="pres">
      <dgm:prSet presAssocID="{A52FAFCA-8727-4C6C-9F45-461324F53116}" presName="iconBgRect" presStyleLbl="bgShp" presStyleIdx="4" presStyleCnt="5"/>
      <dgm:spPr/>
    </dgm:pt>
    <dgm:pt modelId="{52B578AC-7621-4653-A710-EE428B0F65AA}" type="pres">
      <dgm:prSet presAssocID="{A52FAFCA-8727-4C6C-9F45-461324F5311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ogrammer"/>
        </a:ext>
      </dgm:extLst>
    </dgm:pt>
    <dgm:pt modelId="{10E2D412-D5E9-44C8-BFD7-E9C20A8E2B66}" type="pres">
      <dgm:prSet presAssocID="{A52FAFCA-8727-4C6C-9F45-461324F53116}" presName="spaceRect" presStyleCnt="0"/>
      <dgm:spPr/>
    </dgm:pt>
    <dgm:pt modelId="{F4DFC05C-BCE2-451E-A5A5-6448253BC008}" type="pres">
      <dgm:prSet presAssocID="{A52FAFCA-8727-4C6C-9F45-461324F53116}" presName="textRect" presStyleLbl="revTx" presStyleIdx="4" presStyleCnt="5">
        <dgm:presLayoutVars>
          <dgm:chMax val="1"/>
          <dgm:chPref val="1"/>
        </dgm:presLayoutVars>
      </dgm:prSet>
      <dgm:spPr/>
    </dgm:pt>
  </dgm:ptLst>
  <dgm:cxnLst>
    <dgm:cxn modelId="{C4664823-CD96-4AD5-AF64-5C46780CE06C}" type="presOf" srcId="{4DBDA24F-27EA-48E3-BA8A-65AD37F98B3E}" destId="{C229FAAC-B24C-42E9-8B71-2F9AA6DED113}" srcOrd="0" destOrd="0" presId="urn:microsoft.com/office/officeart/2018/2/layout/IconCircleList"/>
    <dgm:cxn modelId="{28E7802D-85B3-44CE-9AEF-B15BD3B6C2A4}" srcId="{8BEC778A-C79D-468D-B4D7-29CC39E0C4DE}" destId="{A52FAFCA-8727-4C6C-9F45-461324F53116}" srcOrd="4" destOrd="0" parTransId="{2DC7A069-3997-45EE-B30F-574254CE9C40}" sibTransId="{5EEA58C8-C56D-473B-8213-CFDB792E67F3}"/>
    <dgm:cxn modelId="{7B3A6D34-F6B7-4B9E-997A-92C7EE732989}" srcId="{8BEC778A-C79D-468D-B4D7-29CC39E0C4DE}" destId="{11D4BD9F-4FB0-4675-B980-41B22868259F}" srcOrd="1" destOrd="0" parTransId="{306B6368-E722-40A5-A24A-15088E97AD54}" sibTransId="{F745AD23-9DC6-4F02-8719-ACC7E1950813}"/>
    <dgm:cxn modelId="{521D035C-575A-4B42-8F86-ECF5CE1EB0D9}" type="presOf" srcId="{C056B044-EBB8-477E-9D79-0D9D22906AD1}" destId="{4BDC1981-A196-4A9C-A956-0AF611356E38}" srcOrd="0" destOrd="0" presId="urn:microsoft.com/office/officeart/2018/2/layout/IconCircleList"/>
    <dgm:cxn modelId="{DA83158A-E73D-4BAD-9118-CE3C8D0FDC97}" type="presOf" srcId="{758B1D07-091F-463D-A844-AFB6A036BC12}" destId="{16D106AA-CC66-49FF-A85D-BCE146AFAF4B}" srcOrd="0" destOrd="0" presId="urn:microsoft.com/office/officeart/2018/2/layout/IconCircleList"/>
    <dgm:cxn modelId="{03019E8B-5C12-43A1-A3A5-C43B0788424C}" type="presOf" srcId="{0C9E0BBA-D743-42E4-B0FF-7884B6FC42A4}" destId="{F1513668-F588-4CA2-9A52-97EB3CB39543}" srcOrd="0" destOrd="0" presId="urn:microsoft.com/office/officeart/2018/2/layout/IconCircleList"/>
    <dgm:cxn modelId="{5ACAA092-F29F-4944-8120-20864105ACB6}" type="presOf" srcId="{11D4BD9F-4FB0-4675-B980-41B22868259F}" destId="{1D8E1293-96BA-41BB-BA0C-0ADB27EC5112}" srcOrd="0" destOrd="0" presId="urn:microsoft.com/office/officeart/2018/2/layout/IconCircleList"/>
    <dgm:cxn modelId="{778C159F-D66B-426B-A77A-A290E1C49854}" type="presOf" srcId="{F745AD23-9DC6-4F02-8719-ACC7E1950813}" destId="{2DE73C3D-92B6-45A4-9B46-7D1623C61EB2}" srcOrd="0" destOrd="0" presId="urn:microsoft.com/office/officeart/2018/2/layout/IconCircleList"/>
    <dgm:cxn modelId="{833E7BA2-23B3-486D-ABFD-08DE2B0723F6}" type="presOf" srcId="{4BBE9DD7-9DE9-4347-A502-0E006C7F7325}" destId="{1EEA555F-EA4C-4338-BFC7-B7B59BBACB75}" srcOrd="0" destOrd="0" presId="urn:microsoft.com/office/officeart/2018/2/layout/IconCircleList"/>
    <dgm:cxn modelId="{9376B6A5-6C5B-4F68-A0A2-E32E5DACC7A5}" type="presOf" srcId="{8BEC778A-C79D-468D-B4D7-29CC39E0C4DE}" destId="{4FB35286-C7D0-4FF1-8C69-22F56646C8FF}" srcOrd="0" destOrd="0" presId="urn:microsoft.com/office/officeart/2018/2/layout/IconCircleList"/>
    <dgm:cxn modelId="{AF4DD1B0-D7DC-4EE4-A65B-A6192A225745}" srcId="{8BEC778A-C79D-468D-B4D7-29CC39E0C4DE}" destId="{C056B044-EBB8-477E-9D79-0D9D22906AD1}" srcOrd="3" destOrd="0" parTransId="{6E704581-8A28-454C-8EE7-4B8A9302621E}" sibTransId="{CA716ADA-47CB-4421-9490-C1EBBCD7FB70}"/>
    <dgm:cxn modelId="{416AD5B4-03D2-4341-AD9B-748D491C8614}" type="presOf" srcId="{A52FAFCA-8727-4C6C-9F45-461324F53116}" destId="{F4DFC05C-BCE2-451E-A5A5-6448253BC008}" srcOrd="0" destOrd="0" presId="urn:microsoft.com/office/officeart/2018/2/layout/IconCircleList"/>
    <dgm:cxn modelId="{9CE916D5-9690-4453-B211-164BAFE43519}" srcId="{8BEC778A-C79D-468D-B4D7-29CC39E0C4DE}" destId="{758B1D07-091F-463D-A844-AFB6A036BC12}" srcOrd="0" destOrd="0" parTransId="{9465C3DB-409B-4AB7-B4A3-D815A456559C}" sibTransId="{0C9E0BBA-D743-42E4-B0FF-7884B6FC42A4}"/>
    <dgm:cxn modelId="{99BB3AE6-F2F7-4314-B635-2029AB12D620}" type="presOf" srcId="{CA716ADA-47CB-4421-9490-C1EBBCD7FB70}" destId="{69A9C4ED-07D4-4096-9662-1459A46A5163}" srcOrd="0" destOrd="0" presId="urn:microsoft.com/office/officeart/2018/2/layout/IconCircleList"/>
    <dgm:cxn modelId="{7900DCEC-2B8A-4510-A94A-2F5D8E555BEE}" srcId="{8BEC778A-C79D-468D-B4D7-29CC39E0C4DE}" destId="{4BBE9DD7-9DE9-4347-A502-0E006C7F7325}" srcOrd="2" destOrd="0" parTransId="{FB31FAC6-6D7C-4476-87EA-C594B9024447}" sibTransId="{4DBDA24F-27EA-48E3-BA8A-65AD37F98B3E}"/>
    <dgm:cxn modelId="{15F7BDFA-CDCA-438C-9AE6-7CA7BC4796A6}" type="presParOf" srcId="{4FB35286-C7D0-4FF1-8C69-22F56646C8FF}" destId="{FA1F5C11-F957-41A5-A9D9-501F2256C0E4}" srcOrd="0" destOrd="0" presId="urn:microsoft.com/office/officeart/2018/2/layout/IconCircleList"/>
    <dgm:cxn modelId="{F1E8D80B-D2E8-4F16-A2E6-0B27FD476999}" type="presParOf" srcId="{FA1F5C11-F957-41A5-A9D9-501F2256C0E4}" destId="{F3A6679C-0AC9-4EE2-B8BA-EE17C57524EB}" srcOrd="0" destOrd="0" presId="urn:microsoft.com/office/officeart/2018/2/layout/IconCircleList"/>
    <dgm:cxn modelId="{456B5B42-EA21-4C33-8579-7F30B822C0A7}" type="presParOf" srcId="{F3A6679C-0AC9-4EE2-B8BA-EE17C57524EB}" destId="{5A210616-36BD-4473-AEF1-FEE69C315223}" srcOrd="0" destOrd="0" presId="urn:microsoft.com/office/officeart/2018/2/layout/IconCircleList"/>
    <dgm:cxn modelId="{6764E6C0-7C6B-4369-98C2-7AC99A50EC38}" type="presParOf" srcId="{F3A6679C-0AC9-4EE2-B8BA-EE17C57524EB}" destId="{EF6E4B8D-9E47-4ECE-8B92-271F5DA3D157}" srcOrd="1" destOrd="0" presId="urn:microsoft.com/office/officeart/2018/2/layout/IconCircleList"/>
    <dgm:cxn modelId="{DC9FCACE-C5BB-499E-891B-FAFD5AAB04CD}" type="presParOf" srcId="{F3A6679C-0AC9-4EE2-B8BA-EE17C57524EB}" destId="{8621755D-2D3C-4FDD-8B75-D18663241C4D}" srcOrd="2" destOrd="0" presId="urn:microsoft.com/office/officeart/2018/2/layout/IconCircleList"/>
    <dgm:cxn modelId="{56F217AB-FA47-451A-9B06-BD48C5EF7E0C}" type="presParOf" srcId="{F3A6679C-0AC9-4EE2-B8BA-EE17C57524EB}" destId="{16D106AA-CC66-49FF-A85D-BCE146AFAF4B}" srcOrd="3" destOrd="0" presId="urn:microsoft.com/office/officeart/2018/2/layout/IconCircleList"/>
    <dgm:cxn modelId="{C166D0CF-C08C-4B2C-A9C6-2B27EF2C8E80}" type="presParOf" srcId="{FA1F5C11-F957-41A5-A9D9-501F2256C0E4}" destId="{F1513668-F588-4CA2-9A52-97EB3CB39543}" srcOrd="1" destOrd="0" presId="urn:microsoft.com/office/officeart/2018/2/layout/IconCircleList"/>
    <dgm:cxn modelId="{68381D23-C2AD-43F5-AB8C-867656381BE1}" type="presParOf" srcId="{FA1F5C11-F957-41A5-A9D9-501F2256C0E4}" destId="{29432B02-55C9-4715-97F8-B0CE0B539190}" srcOrd="2" destOrd="0" presId="urn:microsoft.com/office/officeart/2018/2/layout/IconCircleList"/>
    <dgm:cxn modelId="{4B81986B-0EC0-465D-9FDE-5D67BEEF1F48}" type="presParOf" srcId="{29432B02-55C9-4715-97F8-B0CE0B539190}" destId="{53CC2D23-7514-41D8-B1C3-A15543FE1C2B}" srcOrd="0" destOrd="0" presId="urn:microsoft.com/office/officeart/2018/2/layout/IconCircleList"/>
    <dgm:cxn modelId="{F584F536-54F9-428C-8704-EEAA62315025}" type="presParOf" srcId="{29432B02-55C9-4715-97F8-B0CE0B539190}" destId="{B77439D0-68B5-4C96-B121-253C8C22992B}" srcOrd="1" destOrd="0" presId="urn:microsoft.com/office/officeart/2018/2/layout/IconCircleList"/>
    <dgm:cxn modelId="{372E1BC2-2CB4-4683-B098-98E368307361}" type="presParOf" srcId="{29432B02-55C9-4715-97F8-B0CE0B539190}" destId="{CF3547CD-266B-41D3-A53B-3801B740E43B}" srcOrd="2" destOrd="0" presId="urn:microsoft.com/office/officeart/2018/2/layout/IconCircleList"/>
    <dgm:cxn modelId="{BDE9E764-42F8-4176-933C-191B09D2B816}" type="presParOf" srcId="{29432B02-55C9-4715-97F8-B0CE0B539190}" destId="{1D8E1293-96BA-41BB-BA0C-0ADB27EC5112}" srcOrd="3" destOrd="0" presId="urn:microsoft.com/office/officeart/2018/2/layout/IconCircleList"/>
    <dgm:cxn modelId="{3DA57830-A71A-428C-AC1E-7AA5EC526A4C}" type="presParOf" srcId="{FA1F5C11-F957-41A5-A9D9-501F2256C0E4}" destId="{2DE73C3D-92B6-45A4-9B46-7D1623C61EB2}" srcOrd="3" destOrd="0" presId="urn:microsoft.com/office/officeart/2018/2/layout/IconCircleList"/>
    <dgm:cxn modelId="{EEADE40C-4575-482A-8563-EA41AAFE6F2C}" type="presParOf" srcId="{FA1F5C11-F957-41A5-A9D9-501F2256C0E4}" destId="{621A9108-C1A4-405F-94C4-0FEF552E7224}" srcOrd="4" destOrd="0" presId="urn:microsoft.com/office/officeart/2018/2/layout/IconCircleList"/>
    <dgm:cxn modelId="{70951859-1D41-416B-9EFD-E89FFD3AFA75}" type="presParOf" srcId="{621A9108-C1A4-405F-94C4-0FEF552E7224}" destId="{9255BB0E-8DA6-4B5A-8015-ECFBC1FD0582}" srcOrd="0" destOrd="0" presId="urn:microsoft.com/office/officeart/2018/2/layout/IconCircleList"/>
    <dgm:cxn modelId="{969E1E74-2B46-490B-8E39-26ABB77878C1}" type="presParOf" srcId="{621A9108-C1A4-405F-94C4-0FEF552E7224}" destId="{96C076F3-DE1C-41E2-98E3-73257A0D1301}" srcOrd="1" destOrd="0" presId="urn:microsoft.com/office/officeart/2018/2/layout/IconCircleList"/>
    <dgm:cxn modelId="{389C4606-DCC3-442C-A6D2-E796417C793C}" type="presParOf" srcId="{621A9108-C1A4-405F-94C4-0FEF552E7224}" destId="{2A3984D0-A402-4C8E-8683-EE94896ED7D8}" srcOrd="2" destOrd="0" presId="urn:microsoft.com/office/officeart/2018/2/layout/IconCircleList"/>
    <dgm:cxn modelId="{A976CA95-A000-439F-816E-5B69282A781D}" type="presParOf" srcId="{621A9108-C1A4-405F-94C4-0FEF552E7224}" destId="{1EEA555F-EA4C-4338-BFC7-B7B59BBACB75}" srcOrd="3" destOrd="0" presId="urn:microsoft.com/office/officeart/2018/2/layout/IconCircleList"/>
    <dgm:cxn modelId="{A8B1345F-F42A-4C28-BE5F-C8B27E21572E}" type="presParOf" srcId="{FA1F5C11-F957-41A5-A9D9-501F2256C0E4}" destId="{C229FAAC-B24C-42E9-8B71-2F9AA6DED113}" srcOrd="5" destOrd="0" presId="urn:microsoft.com/office/officeart/2018/2/layout/IconCircleList"/>
    <dgm:cxn modelId="{8A696E42-7C33-456C-94E2-3E60530936BE}" type="presParOf" srcId="{FA1F5C11-F957-41A5-A9D9-501F2256C0E4}" destId="{81A3774C-95E7-4CDE-8371-7706D128B903}" srcOrd="6" destOrd="0" presId="urn:microsoft.com/office/officeart/2018/2/layout/IconCircleList"/>
    <dgm:cxn modelId="{8AD1EE22-95F2-4CD4-B89E-E052DD8FB99E}" type="presParOf" srcId="{81A3774C-95E7-4CDE-8371-7706D128B903}" destId="{48D6E467-4A28-4EC4-A5F6-B8E834680844}" srcOrd="0" destOrd="0" presId="urn:microsoft.com/office/officeart/2018/2/layout/IconCircleList"/>
    <dgm:cxn modelId="{189FF0F2-23D2-4279-8863-90A577D445F1}" type="presParOf" srcId="{81A3774C-95E7-4CDE-8371-7706D128B903}" destId="{2052562D-B92F-4E43-9D59-21E44C973D77}" srcOrd="1" destOrd="0" presId="urn:microsoft.com/office/officeart/2018/2/layout/IconCircleList"/>
    <dgm:cxn modelId="{C3758ADC-40EB-497C-9371-D97B3CA6C211}" type="presParOf" srcId="{81A3774C-95E7-4CDE-8371-7706D128B903}" destId="{2408CABF-CF1A-46DE-B4AF-0170FD5775FD}" srcOrd="2" destOrd="0" presId="urn:microsoft.com/office/officeart/2018/2/layout/IconCircleList"/>
    <dgm:cxn modelId="{94B5C1E9-A18F-457D-8733-AA09BE6641C6}" type="presParOf" srcId="{81A3774C-95E7-4CDE-8371-7706D128B903}" destId="{4BDC1981-A196-4A9C-A956-0AF611356E38}" srcOrd="3" destOrd="0" presId="urn:microsoft.com/office/officeart/2018/2/layout/IconCircleList"/>
    <dgm:cxn modelId="{C029B1F4-BA8F-47B1-9751-110D66E36390}" type="presParOf" srcId="{FA1F5C11-F957-41A5-A9D9-501F2256C0E4}" destId="{69A9C4ED-07D4-4096-9662-1459A46A5163}" srcOrd="7" destOrd="0" presId="urn:microsoft.com/office/officeart/2018/2/layout/IconCircleList"/>
    <dgm:cxn modelId="{4DDB6C67-0560-418E-BFA2-3E25D5EB0DF1}" type="presParOf" srcId="{FA1F5C11-F957-41A5-A9D9-501F2256C0E4}" destId="{25C9396F-8CE2-425E-BE71-19A7D86B3CAC}" srcOrd="8" destOrd="0" presId="urn:microsoft.com/office/officeart/2018/2/layout/IconCircleList"/>
    <dgm:cxn modelId="{44FF2311-A3FE-4E3D-92C7-B638C242216A}" type="presParOf" srcId="{25C9396F-8CE2-425E-BE71-19A7D86B3CAC}" destId="{CA479221-7AB3-4170-98D2-DF9C844EC811}" srcOrd="0" destOrd="0" presId="urn:microsoft.com/office/officeart/2018/2/layout/IconCircleList"/>
    <dgm:cxn modelId="{28780CF1-0873-4720-A5FD-0B27F5D9E1B8}" type="presParOf" srcId="{25C9396F-8CE2-425E-BE71-19A7D86B3CAC}" destId="{52B578AC-7621-4653-A710-EE428B0F65AA}" srcOrd="1" destOrd="0" presId="urn:microsoft.com/office/officeart/2018/2/layout/IconCircleList"/>
    <dgm:cxn modelId="{DDA6DDE2-495D-4675-9AE0-C1671221CDCE}" type="presParOf" srcId="{25C9396F-8CE2-425E-BE71-19A7D86B3CAC}" destId="{10E2D412-D5E9-44C8-BFD7-E9C20A8E2B66}" srcOrd="2" destOrd="0" presId="urn:microsoft.com/office/officeart/2018/2/layout/IconCircleList"/>
    <dgm:cxn modelId="{5CC06E99-451D-46C6-AB98-ECFC3F7CC880}" type="presParOf" srcId="{25C9396F-8CE2-425E-BE71-19A7D86B3CAC}" destId="{F4DFC05C-BCE2-451E-A5A5-6448253BC00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9C3852-9660-44A5-B026-902F0249A0F8}">
      <dsp:nvSpPr>
        <dsp:cNvPr id="0" name=""/>
        <dsp:cNvSpPr/>
      </dsp:nvSpPr>
      <dsp:spPr>
        <a:xfrm>
          <a:off x="1147" y="536200"/>
          <a:ext cx="4029452" cy="2558702"/>
        </a:xfrm>
        <a:prstGeom prst="roundRect">
          <a:avLst>
            <a:gd name="adj" fmla="val 10000"/>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4C9606-DF31-48F3-B0ED-FE4CCABDA0D6}">
      <dsp:nvSpPr>
        <dsp:cNvPr id="0" name=""/>
        <dsp:cNvSpPr/>
      </dsp:nvSpPr>
      <dsp:spPr>
        <a:xfrm>
          <a:off x="448864" y="961531"/>
          <a:ext cx="4029452" cy="2558702"/>
        </a:xfrm>
        <a:prstGeom prst="roundRect">
          <a:avLst>
            <a:gd name="adj" fmla="val 10000"/>
          </a:avLst>
        </a:prstGeom>
        <a:solidFill>
          <a:schemeClr val="lt2">
            <a:alpha val="90000"/>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Recent studies highlight the limitations of rigid robots in pipeline inspection, particularly in navigating bends and varying diameters. Xiang (2024) emphasized that most commercial inspection robots use solid metal components, which risk damaging pipes due to friction and lack flexibility. </a:t>
          </a:r>
        </a:p>
      </dsp:txBody>
      <dsp:txXfrm>
        <a:off x="523806" y="1036473"/>
        <a:ext cx="3879568" cy="2408818"/>
      </dsp:txXfrm>
    </dsp:sp>
    <dsp:sp modelId="{3B9ECDE3-29EF-4F6E-A591-7DEEA0AF0967}">
      <dsp:nvSpPr>
        <dsp:cNvPr id="0" name=""/>
        <dsp:cNvSpPr/>
      </dsp:nvSpPr>
      <dsp:spPr>
        <a:xfrm>
          <a:off x="4926034" y="536200"/>
          <a:ext cx="4029452" cy="2558702"/>
        </a:xfrm>
        <a:prstGeom prst="roundRect">
          <a:avLst>
            <a:gd name="adj" fmla="val 10000"/>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DA68989-63BF-4B4E-87B8-7563685D5705}">
      <dsp:nvSpPr>
        <dsp:cNvPr id="0" name=""/>
        <dsp:cNvSpPr/>
      </dsp:nvSpPr>
      <dsp:spPr>
        <a:xfrm>
          <a:off x="5373751" y="961531"/>
          <a:ext cx="4029452" cy="2558702"/>
        </a:xfrm>
        <a:prstGeom prst="roundRect">
          <a:avLst>
            <a:gd name="adj" fmla="val 10000"/>
          </a:avLst>
        </a:prstGeom>
        <a:solidFill>
          <a:schemeClr val="lt2">
            <a:alpha val="90000"/>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Yu et al. (2023) demonstrated how soft robots with pneumatic actuators can adapt to confined spaces and irregular paths. Additional research supports the use of </a:t>
          </a:r>
          <a:r>
            <a:rPr lang="en-US" sz="1600" kern="1200" dirty="0" err="1"/>
            <a:t>hyperelastic</a:t>
          </a:r>
          <a:r>
            <a:rPr lang="en-US" sz="1600" kern="1200" dirty="0"/>
            <a:t> materials and bio-inspired designs to improve motion control and safety in pipe environments.</a:t>
          </a:r>
        </a:p>
      </dsp:txBody>
      <dsp:txXfrm>
        <a:off x="5448693" y="1036473"/>
        <a:ext cx="3879568" cy="24088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BA0E88-210B-4A7E-AECA-636AE1B978EA}">
      <dsp:nvSpPr>
        <dsp:cNvPr id="0" name=""/>
        <dsp:cNvSpPr/>
      </dsp:nvSpPr>
      <dsp:spPr>
        <a:xfrm>
          <a:off x="0" y="1848"/>
          <a:ext cx="4944151"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0E1561C9-D3D0-4D76-A913-502A367FD189}">
      <dsp:nvSpPr>
        <dsp:cNvPr id="0" name=""/>
        <dsp:cNvSpPr/>
      </dsp:nvSpPr>
      <dsp:spPr>
        <a:xfrm>
          <a:off x="0" y="1848"/>
          <a:ext cx="4944151" cy="1260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Rigid robots used in pipeline inspection are large, inflexible, and unsuitable for small-diameter or curved pipes.</a:t>
          </a:r>
        </a:p>
      </dsp:txBody>
      <dsp:txXfrm>
        <a:off x="0" y="1848"/>
        <a:ext cx="4944151" cy="1260574"/>
      </dsp:txXfrm>
    </dsp:sp>
    <dsp:sp modelId="{53F68659-D9CF-44F2-936C-B16C9B7B90BC}">
      <dsp:nvSpPr>
        <dsp:cNvPr id="0" name=""/>
        <dsp:cNvSpPr/>
      </dsp:nvSpPr>
      <dsp:spPr>
        <a:xfrm>
          <a:off x="0" y="1262422"/>
          <a:ext cx="4944151" cy="0"/>
        </a:xfrm>
        <a:prstGeom prst="line">
          <a:avLst/>
        </a:prstGeom>
        <a:solidFill>
          <a:schemeClr val="accent3">
            <a:hueOff val="0"/>
            <a:satOff val="0"/>
            <a:lumOff val="0"/>
            <a:alphaOff val="0"/>
          </a:schemeClr>
        </a:solidFill>
        <a:ln w="19050" cap="rnd" cmpd="sng" algn="ctr">
          <a:solidFill>
            <a:schemeClr val="accent3">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0526D168-41D6-4144-9F28-7E0AFFA5349E}">
      <dsp:nvSpPr>
        <dsp:cNvPr id="0" name=""/>
        <dsp:cNvSpPr/>
      </dsp:nvSpPr>
      <dsp:spPr>
        <a:xfrm>
          <a:off x="0" y="1262422"/>
          <a:ext cx="4944151" cy="1260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Their metallic bodies risk damaging pipe interiors and often require large access points for insertion.</a:t>
          </a:r>
        </a:p>
      </dsp:txBody>
      <dsp:txXfrm>
        <a:off x="0" y="1262422"/>
        <a:ext cx="4944151" cy="1260574"/>
      </dsp:txXfrm>
    </dsp:sp>
    <dsp:sp modelId="{7F3F8AE8-2E8F-4119-84E8-7020B556E0D9}">
      <dsp:nvSpPr>
        <dsp:cNvPr id="0" name=""/>
        <dsp:cNvSpPr/>
      </dsp:nvSpPr>
      <dsp:spPr>
        <a:xfrm>
          <a:off x="0" y="2522996"/>
          <a:ext cx="4944151" cy="0"/>
        </a:xfrm>
        <a:prstGeom prst="line">
          <a:avLst/>
        </a:prstGeom>
        <a:solidFill>
          <a:schemeClr val="accent4">
            <a:hueOff val="0"/>
            <a:satOff val="0"/>
            <a:lumOff val="0"/>
            <a:alphaOff val="0"/>
          </a:schemeClr>
        </a:solidFill>
        <a:ln w="19050" cap="rnd" cmpd="sng" algn="ctr">
          <a:solidFill>
            <a:schemeClr val="accent4">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6C07403C-39C0-4719-8812-C06BDA0CF604}">
      <dsp:nvSpPr>
        <dsp:cNvPr id="0" name=""/>
        <dsp:cNvSpPr/>
      </dsp:nvSpPr>
      <dsp:spPr>
        <a:xfrm>
          <a:off x="0" y="2522996"/>
          <a:ext cx="4944151" cy="1260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Manual inspections are hazardous and costly, exposing workers to danger and increasing operational expenses in oil and utility sectors.</a:t>
          </a:r>
        </a:p>
      </dsp:txBody>
      <dsp:txXfrm>
        <a:off x="0" y="2522996"/>
        <a:ext cx="4944151" cy="12605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2D52DF-8EE5-49A1-80F1-6ECADFAAA7AD}">
      <dsp:nvSpPr>
        <dsp:cNvPr id="0" name=""/>
        <dsp:cNvSpPr/>
      </dsp:nvSpPr>
      <dsp:spPr>
        <a:xfrm>
          <a:off x="0" y="415"/>
          <a:ext cx="10895369" cy="97241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CC5E8A-A611-4793-BF89-EADB22CF9BAD}">
      <dsp:nvSpPr>
        <dsp:cNvPr id="0" name=""/>
        <dsp:cNvSpPr/>
      </dsp:nvSpPr>
      <dsp:spPr>
        <a:xfrm>
          <a:off x="294154" y="219208"/>
          <a:ext cx="534827" cy="53482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438C98B-B77D-4E97-9BD3-887B75F3F2D4}">
      <dsp:nvSpPr>
        <dsp:cNvPr id="0" name=""/>
        <dsp:cNvSpPr/>
      </dsp:nvSpPr>
      <dsp:spPr>
        <a:xfrm>
          <a:off x="1123137" y="415"/>
          <a:ext cx="9772232" cy="972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914" tIns="102914" rIns="102914" bIns="102914" numCol="1" spcCol="1270" anchor="ctr" anchorCtr="0">
          <a:noAutofit/>
        </a:bodyPr>
        <a:lstStyle/>
        <a:p>
          <a:pPr marL="0" lvl="0" indent="0" algn="l" defTabSz="800100">
            <a:lnSpc>
              <a:spcPct val="100000"/>
            </a:lnSpc>
            <a:spcBef>
              <a:spcPct val="0"/>
            </a:spcBef>
            <a:spcAft>
              <a:spcPct val="35000"/>
            </a:spcAft>
            <a:buNone/>
          </a:pPr>
          <a:r>
            <a:rPr lang="en-US" sz="1800" kern="1200"/>
            <a:t>Design and simulate radial and linear soft actuators using SolidWorks and ANSYS to evaluate deformation, strain, and stress behavior under pneumatic pressure.</a:t>
          </a:r>
        </a:p>
      </dsp:txBody>
      <dsp:txXfrm>
        <a:off x="1123137" y="415"/>
        <a:ext cx="9772232" cy="972413"/>
      </dsp:txXfrm>
    </dsp:sp>
    <dsp:sp modelId="{0123BF6C-366A-4EC4-888E-46344FC83A4F}">
      <dsp:nvSpPr>
        <dsp:cNvPr id="0" name=""/>
        <dsp:cNvSpPr/>
      </dsp:nvSpPr>
      <dsp:spPr>
        <a:xfrm>
          <a:off x="0" y="1215931"/>
          <a:ext cx="10895369" cy="97241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40BC58-64AA-4592-9EE1-796631CC13EB}">
      <dsp:nvSpPr>
        <dsp:cNvPr id="0" name=""/>
        <dsp:cNvSpPr/>
      </dsp:nvSpPr>
      <dsp:spPr>
        <a:xfrm>
          <a:off x="294154" y="1434724"/>
          <a:ext cx="534827" cy="53482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9F87880-2C56-4401-865E-800E35EFE2D6}">
      <dsp:nvSpPr>
        <dsp:cNvPr id="0" name=""/>
        <dsp:cNvSpPr/>
      </dsp:nvSpPr>
      <dsp:spPr>
        <a:xfrm>
          <a:off x="1123137" y="1215931"/>
          <a:ext cx="9772232" cy="972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914" tIns="102914" rIns="102914" bIns="102914" numCol="1" spcCol="1270" anchor="ctr" anchorCtr="0">
          <a:noAutofit/>
        </a:bodyPr>
        <a:lstStyle/>
        <a:p>
          <a:pPr marL="0" lvl="0" indent="0" algn="l" defTabSz="800100">
            <a:lnSpc>
              <a:spcPct val="100000"/>
            </a:lnSpc>
            <a:spcBef>
              <a:spcPct val="0"/>
            </a:spcBef>
            <a:spcAft>
              <a:spcPct val="35000"/>
            </a:spcAft>
            <a:buNone/>
          </a:pPr>
          <a:r>
            <a:rPr lang="en-US" sz="1800" kern="1200"/>
            <a:t>Fabricate actuator components using 3D-printed molds and silicone casting techniques, ensuring fit, flexibility, and seal integrity.</a:t>
          </a:r>
        </a:p>
      </dsp:txBody>
      <dsp:txXfrm>
        <a:off x="1123137" y="1215931"/>
        <a:ext cx="9772232" cy="972413"/>
      </dsp:txXfrm>
    </dsp:sp>
    <dsp:sp modelId="{75B2156D-922C-4E53-A9E2-BBBF30A3536E}">
      <dsp:nvSpPr>
        <dsp:cNvPr id="0" name=""/>
        <dsp:cNvSpPr/>
      </dsp:nvSpPr>
      <dsp:spPr>
        <a:xfrm>
          <a:off x="0" y="2431448"/>
          <a:ext cx="10895369" cy="97241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5FD725-6926-444E-98E9-64BDF26F5E1E}">
      <dsp:nvSpPr>
        <dsp:cNvPr id="0" name=""/>
        <dsp:cNvSpPr/>
      </dsp:nvSpPr>
      <dsp:spPr>
        <a:xfrm>
          <a:off x="294154" y="2650241"/>
          <a:ext cx="534827" cy="53482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9E53D5E-AE64-4892-99DD-5CA8B7B05785}">
      <dsp:nvSpPr>
        <dsp:cNvPr id="0" name=""/>
        <dsp:cNvSpPr/>
      </dsp:nvSpPr>
      <dsp:spPr>
        <a:xfrm>
          <a:off x="1123137" y="2431448"/>
          <a:ext cx="9772232" cy="972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914" tIns="102914" rIns="102914" bIns="102914" numCol="1" spcCol="1270" anchor="ctr" anchorCtr="0">
          <a:noAutofit/>
        </a:bodyPr>
        <a:lstStyle/>
        <a:p>
          <a:pPr marL="0" lvl="0" indent="0" algn="l" defTabSz="800100">
            <a:lnSpc>
              <a:spcPct val="100000"/>
            </a:lnSpc>
            <a:spcBef>
              <a:spcPct val="0"/>
            </a:spcBef>
            <a:spcAft>
              <a:spcPct val="35000"/>
            </a:spcAft>
            <a:buNone/>
          </a:pPr>
          <a:r>
            <a:rPr lang="en-US" sz="1800" kern="1200"/>
            <a:t>Validate performance through simulation and physical assembly, comparing results to safety thresholds and expected actuator behavior in pipeline environments.</a:t>
          </a:r>
        </a:p>
      </dsp:txBody>
      <dsp:txXfrm>
        <a:off x="1123137" y="2431448"/>
        <a:ext cx="9772232" cy="9724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210616-36BD-4473-AEF1-FEE69C315223}">
      <dsp:nvSpPr>
        <dsp:cNvPr id="0" name=""/>
        <dsp:cNvSpPr/>
      </dsp:nvSpPr>
      <dsp:spPr>
        <a:xfrm>
          <a:off x="195832" y="502237"/>
          <a:ext cx="910537" cy="9105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6E4B8D-9E47-4ECE-8B92-271F5DA3D157}">
      <dsp:nvSpPr>
        <dsp:cNvPr id="0" name=""/>
        <dsp:cNvSpPr/>
      </dsp:nvSpPr>
      <dsp:spPr>
        <a:xfrm>
          <a:off x="387045" y="693449"/>
          <a:ext cx="528112" cy="5281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6D106AA-CC66-49FF-A85D-BCE146AFAF4B}">
      <dsp:nvSpPr>
        <dsp:cNvPr id="0" name=""/>
        <dsp:cNvSpPr/>
      </dsp:nvSpPr>
      <dsp:spPr>
        <a:xfrm>
          <a:off x="1301485" y="502237"/>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We successfully designed and developed a low-cost, bio-inspired soft robot tailored for pipeline inspection, addressing key challenges in narrow and hazardous environments.</a:t>
          </a:r>
        </a:p>
      </dsp:txBody>
      <dsp:txXfrm>
        <a:off x="1301485" y="502237"/>
        <a:ext cx="2146268" cy="910537"/>
      </dsp:txXfrm>
    </dsp:sp>
    <dsp:sp modelId="{53CC2D23-7514-41D8-B1C3-A15543FE1C2B}">
      <dsp:nvSpPr>
        <dsp:cNvPr id="0" name=""/>
        <dsp:cNvSpPr/>
      </dsp:nvSpPr>
      <dsp:spPr>
        <a:xfrm>
          <a:off x="3821724" y="502237"/>
          <a:ext cx="910537" cy="9105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7439D0-68B5-4C96-B121-253C8C22992B}">
      <dsp:nvSpPr>
        <dsp:cNvPr id="0" name=""/>
        <dsp:cNvSpPr/>
      </dsp:nvSpPr>
      <dsp:spPr>
        <a:xfrm>
          <a:off x="4012937" y="693449"/>
          <a:ext cx="528112" cy="5281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D8E1293-96BA-41BB-BA0C-0ADB27EC5112}">
      <dsp:nvSpPr>
        <dsp:cNvPr id="0" name=""/>
        <dsp:cNvSpPr/>
      </dsp:nvSpPr>
      <dsp:spPr>
        <a:xfrm>
          <a:off x="4927377" y="502237"/>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 The modular system — including the balloon, linear actuator, and connector — was effectively prototyped using 3D printing and mold casting techniques.</a:t>
          </a:r>
        </a:p>
      </dsp:txBody>
      <dsp:txXfrm>
        <a:off x="4927377" y="502237"/>
        <a:ext cx="2146268" cy="910537"/>
      </dsp:txXfrm>
    </dsp:sp>
    <dsp:sp modelId="{9255BB0E-8DA6-4B5A-8015-ECFBC1FD0582}">
      <dsp:nvSpPr>
        <dsp:cNvPr id="0" name=""/>
        <dsp:cNvSpPr/>
      </dsp:nvSpPr>
      <dsp:spPr>
        <a:xfrm>
          <a:off x="7447616" y="502237"/>
          <a:ext cx="910537" cy="9105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C076F3-DE1C-41E2-98E3-73257A0D1301}">
      <dsp:nvSpPr>
        <dsp:cNvPr id="0" name=""/>
        <dsp:cNvSpPr/>
      </dsp:nvSpPr>
      <dsp:spPr>
        <a:xfrm>
          <a:off x="7638829" y="693449"/>
          <a:ext cx="528112" cy="5281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EEA555F-EA4C-4338-BFC7-B7B59BBACB75}">
      <dsp:nvSpPr>
        <dsp:cNvPr id="0" name=""/>
        <dsp:cNvSpPr/>
      </dsp:nvSpPr>
      <dsp:spPr>
        <a:xfrm>
          <a:off x="8553269" y="502237"/>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 Simulation results showed satisfactory elastic strain, deformation, and stress performance, confirming the design’s feasibility under operational conditions.</a:t>
          </a:r>
        </a:p>
      </dsp:txBody>
      <dsp:txXfrm>
        <a:off x="8553269" y="502237"/>
        <a:ext cx="2146268" cy="910537"/>
      </dsp:txXfrm>
    </dsp:sp>
    <dsp:sp modelId="{48D6E467-4A28-4EC4-A5F6-B8E834680844}">
      <dsp:nvSpPr>
        <dsp:cNvPr id="0" name=""/>
        <dsp:cNvSpPr/>
      </dsp:nvSpPr>
      <dsp:spPr>
        <a:xfrm>
          <a:off x="195832" y="1991502"/>
          <a:ext cx="910537" cy="9105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52562D-B92F-4E43-9D59-21E44C973D77}">
      <dsp:nvSpPr>
        <dsp:cNvPr id="0" name=""/>
        <dsp:cNvSpPr/>
      </dsp:nvSpPr>
      <dsp:spPr>
        <a:xfrm>
          <a:off x="387045" y="2182715"/>
          <a:ext cx="528112" cy="5281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BDC1981-A196-4A9C-A956-0AF611356E38}">
      <dsp:nvSpPr>
        <dsp:cNvPr id="0" name=""/>
        <dsp:cNvSpPr/>
      </dsp:nvSpPr>
      <dsp:spPr>
        <a:xfrm>
          <a:off x="1301485" y="1991502"/>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 The final assembly demonstrated good extension (60% increase in length) and reliable gripping, validating the functional integration of all components.</a:t>
          </a:r>
        </a:p>
      </dsp:txBody>
      <dsp:txXfrm>
        <a:off x="1301485" y="1991502"/>
        <a:ext cx="2146268" cy="910537"/>
      </dsp:txXfrm>
    </dsp:sp>
    <dsp:sp modelId="{CA479221-7AB3-4170-98D2-DF9C844EC811}">
      <dsp:nvSpPr>
        <dsp:cNvPr id="0" name=""/>
        <dsp:cNvSpPr/>
      </dsp:nvSpPr>
      <dsp:spPr>
        <a:xfrm>
          <a:off x="3821724" y="1991502"/>
          <a:ext cx="910537" cy="91053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B578AC-7621-4653-A710-EE428B0F65AA}">
      <dsp:nvSpPr>
        <dsp:cNvPr id="0" name=""/>
        <dsp:cNvSpPr/>
      </dsp:nvSpPr>
      <dsp:spPr>
        <a:xfrm>
          <a:off x="4012937" y="2182715"/>
          <a:ext cx="528112" cy="52811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4DFC05C-BCE2-451E-A5A5-6448253BC008}">
      <dsp:nvSpPr>
        <dsp:cNvPr id="0" name=""/>
        <dsp:cNvSpPr/>
      </dsp:nvSpPr>
      <dsp:spPr>
        <a:xfrm>
          <a:off x="4927377" y="1991502"/>
          <a:ext cx="2146268" cy="9105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US" sz="1100" kern="1200"/>
            <a:t>✅ This work provides a promising foundation for future enhancements, such as automation, sensor integration, and real-world pipeline testing, to further improve adaptability and safety in inspection tasks.</a:t>
          </a:r>
        </a:p>
      </dsp:txBody>
      <dsp:txXfrm>
        <a:off x="4927377" y="1991502"/>
        <a:ext cx="2146268" cy="91053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7EBE4D-5383-45EC-8198-2FAD8FA6F214}" type="datetimeFigureOut">
              <a:rPr lang="en-US" smtClean="0"/>
              <a:t>5/25/2025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311BB-A059-4285-9127-5E83111ED7AA}" type="slidenum">
              <a:rPr lang="en-US" smtClean="0"/>
              <a:t>‹#›</a:t>
            </a:fld>
            <a:endParaRPr lang="en-US"/>
          </a:p>
        </p:txBody>
      </p:sp>
    </p:spTree>
    <p:extLst>
      <p:ext uri="{BB962C8B-B14F-4D97-AF65-F5344CB8AC3E}">
        <p14:creationId xmlns:p14="http://schemas.microsoft.com/office/powerpoint/2010/main" val="2519622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5465e7bc0b_1_3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5465e7bc0b_1_3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6334C67-6061-4032-8510-BB02C92D7808}" type="datetimeFigureOut">
              <a:rPr lang="en-US" smtClean="0"/>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2931670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6334C67-6061-4032-8510-BB02C92D7808}" type="datetimeFigureOut">
              <a:rPr lang="en-US" smtClean="0"/>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4137432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334C67-6061-4032-8510-BB02C92D7808}" type="datetimeFigureOut">
              <a:rPr lang="en-US" smtClean="0"/>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3765207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334C67-6061-4032-8510-BB02C92D7808}" type="datetimeFigureOut">
              <a:rPr lang="en-US" smtClean="0"/>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2349051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6334C67-6061-4032-8510-BB02C92D7808}" type="datetimeFigureOut">
              <a:rPr lang="en-US" smtClean="0"/>
              <a:t>5/25/2025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3713758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A6334C67-6061-4032-8510-BB02C92D7808}" type="datetimeFigureOut">
              <a:rPr lang="en-US" smtClean="0"/>
              <a:t>5/25/2025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325531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6334C67-6061-4032-8510-BB02C92D7808}" type="datetimeFigureOut">
              <a:rPr lang="en-US" smtClean="0"/>
              <a:t>5/25/2025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1016006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A6334C67-6061-4032-8510-BB02C92D7808}" type="datetimeFigureOut">
              <a:rPr lang="en-US" smtClean="0"/>
              <a:t>5/25/2025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3965640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334C67-6061-4032-8510-BB02C92D7808}" type="datetimeFigureOut">
              <a:rPr lang="en-US" smtClean="0"/>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3895053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334C67-6061-4032-8510-BB02C92D7808}" type="datetimeFigureOut">
              <a:rPr lang="en-US" smtClean="0"/>
              <a:t>5/25/2025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1035808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6334C67-6061-4032-8510-BB02C92D7808}" type="datetimeFigureOut">
              <a:rPr lang="en-US" smtClean="0"/>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3783188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6334C67-6061-4032-8510-BB02C92D7808}" type="datetimeFigureOut">
              <a:rPr lang="en-US" smtClean="0"/>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AA90A-A10F-42F4-95C7-EEA48D43CCA9}"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7945592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334C67-6061-4032-8510-BB02C92D7808}" type="datetimeFigureOut">
              <a:rPr lang="en-US" smtClean="0"/>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38983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6334C67-6061-4032-8510-BB02C92D7808}" type="datetimeFigureOut">
              <a:rPr lang="en-US" smtClean="0"/>
              <a:t>5/25/2025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728480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6334C67-6061-4032-8510-BB02C92D7808}" type="datetimeFigureOut">
              <a:rPr lang="en-US" smtClean="0"/>
              <a:t>5/25/2025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8310817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334C67-6061-4032-8510-BB02C92D7808}" type="datetimeFigureOut">
              <a:rPr lang="en-US" smtClean="0"/>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25760129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334C67-6061-4032-8510-BB02C92D7808}" type="datetimeFigureOut">
              <a:rPr lang="en-US" smtClean="0"/>
              <a:t>5/25/2025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8AA90A-A10F-42F4-95C7-EEA48D43CCA9}" type="slidenum">
              <a:rPr lang="en-US" smtClean="0"/>
              <a:t>‹#›</a:t>
            </a:fld>
            <a:endParaRPr lang="en-US"/>
          </a:p>
        </p:txBody>
      </p:sp>
    </p:spTree>
    <p:extLst>
      <p:ext uri="{BB962C8B-B14F-4D97-AF65-F5344CB8AC3E}">
        <p14:creationId xmlns:p14="http://schemas.microsoft.com/office/powerpoint/2010/main" val="14160965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lumns 1">
  <p:cSld name="Two columns 1">
    <p:spTree>
      <p:nvGrpSpPr>
        <p:cNvPr id="1" name="Shape 82"/>
        <p:cNvGrpSpPr/>
        <p:nvPr/>
      </p:nvGrpSpPr>
      <p:grpSpPr>
        <a:xfrm>
          <a:off x="0" y="0"/>
          <a:ext cx="0" cy="0"/>
          <a:chOff x="0" y="0"/>
          <a:chExt cx="0" cy="0"/>
        </a:xfrm>
      </p:grpSpPr>
      <p:sp>
        <p:nvSpPr>
          <p:cNvPr id="83" name="Google Shape;83;p15"/>
          <p:cNvSpPr txBox="1">
            <a:spLocks noGrp="1"/>
          </p:cNvSpPr>
          <p:nvPr>
            <p:ph type="subTitle" idx="1"/>
          </p:nvPr>
        </p:nvSpPr>
        <p:spPr>
          <a:xfrm>
            <a:off x="6178600" y="2463861"/>
            <a:ext cx="24240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84" name="Google Shape;84;p15"/>
          <p:cNvSpPr txBox="1">
            <a:spLocks noGrp="1"/>
          </p:cNvSpPr>
          <p:nvPr>
            <p:ph type="subTitle" idx="2"/>
          </p:nvPr>
        </p:nvSpPr>
        <p:spPr>
          <a:xfrm>
            <a:off x="6178600" y="5103827"/>
            <a:ext cx="2424000" cy="148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000"/>
              <a:buNone/>
              <a:defRPr sz="1333"/>
            </a:lvl1pPr>
            <a:lvl2pPr lvl="1" rtl="0">
              <a:lnSpc>
                <a:spcPct val="100000"/>
              </a:lnSpc>
              <a:spcBef>
                <a:spcPts val="0"/>
              </a:spcBef>
              <a:spcAft>
                <a:spcPts val="0"/>
              </a:spcAft>
              <a:buSzPts val="1000"/>
              <a:buNone/>
              <a:defRPr sz="1333"/>
            </a:lvl2pPr>
            <a:lvl3pPr lvl="2" rtl="0">
              <a:lnSpc>
                <a:spcPct val="100000"/>
              </a:lnSpc>
              <a:spcBef>
                <a:spcPts val="0"/>
              </a:spcBef>
              <a:spcAft>
                <a:spcPts val="0"/>
              </a:spcAft>
              <a:buSzPts val="1000"/>
              <a:buNone/>
              <a:defRPr sz="1333"/>
            </a:lvl3pPr>
            <a:lvl4pPr lvl="3" rtl="0">
              <a:lnSpc>
                <a:spcPct val="100000"/>
              </a:lnSpc>
              <a:spcBef>
                <a:spcPts val="0"/>
              </a:spcBef>
              <a:spcAft>
                <a:spcPts val="0"/>
              </a:spcAft>
              <a:buSzPts val="1000"/>
              <a:buNone/>
              <a:defRPr sz="1333"/>
            </a:lvl4pPr>
            <a:lvl5pPr lvl="4" rtl="0">
              <a:lnSpc>
                <a:spcPct val="100000"/>
              </a:lnSpc>
              <a:spcBef>
                <a:spcPts val="0"/>
              </a:spcBef>
              <a:spcAft>
                <a:spcPts val="0"/>
              </a:spcAft>
              <a:buSzPts val="1000"/>
              <a:buNone/>
              <a:defRPr sz="1333"/>
            </a:lvl5pPr>
            <a:lvl6pPr lvl="5" rtl="0">
              <a:lnSpc>
                <a:spcPct val="100000"/>
              </a:lnSpc>
              <a:spcBef>
                <a:spcPts val="0"/>
              </a:spcBef>
              <a:spcAft>
                <a:spcPts val="0"/>
              </a:spcAft>
              <a:buSzPts val="1000"/>
              <a:buNone/>
              <a:defRPr sz="1333"/>
            </a:lvl6pPr>
            <a:lvl7pPr lvl="6" rtl="0">
              <a:lnSpc>
                <a:spcPct val="100000"/>
              </a:lnSpc>
              <a:spcBef>
                <a:spcPts val="0"/>
              </a:spcBef>
              <a:spcAft>
                <a:spcPts val="0"/>
              </a:spcAft>
              <a:buSzPts val="1000"/>
              <a:buNone/>
              <a:defRPr sz="1333"/>
            </a:lvl7pPr>
            <a:lvl8pPr lvl="7" rtl="0">
              <a:lnSpc>
                <a:spcPct val="100000"/>
              </a:lnSpc>
              <a:spcBef>
                <a:spcPts val="0"/>
              </a:spcBef>
              <a:spcAft>
                <a:spcPts val="0"/>
              </a:spcAft>
              <a:buSzPts val="1000"/>
              <a:buNone/>
              <a:defRPr sz="1333"/>
            </a:lvl8pPr>
            <a:lvl9pPr lvl="8" rtl="0">
              <a:lnSpc>
                <a:spcPct val="100000"/>
              </a:lnSpc>
              <a:spcBef>
                <a:spcPts val="0"/>
              </a:spcBef>
              <a:spcAft>
                <a:spcPts val="0"/>
              </a:spcAft>
              <a:buSzPts val="1000"/>
              <a:buNone/>
              <a:defRPr sz="1333"/>
            </a:lvl9pPr>
          </a:lstStyle>
          <a:p>
            <a:endParaRPr/>
          </a:p>
        </p:txBody>
      </p:sp>
      <p:sp>
        <p:nvSpPr>
          <p:cNvPr id="85" name="Google Shape;85;p15"/>
          <p:cNvSpPr txBox="1">
            <a:spLocks noGrp="1"/>
          </p:cNvSpPr>
          <p:nvPr>
            <p:ph type="ctrTitle"/>
          </p:nvPr>
        </p:nvSpPr>
        <p:spPr>
          <a:xfrm>
            <a:off x="6178600" y="2052395"/>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86" name="Google Shape;86;p15"/>
          <p:cNvSpPr txBox="1">
            <a:spLocks noGrp="1"/>
          </p:cNvSpPr>
          <p:nvPr>
            <p:ph type="ctrTitle" idx="3"/>
          </p:nvPr>
        </p:nvSpPr>
        <p:spPr>
          <a:xfrm>
            <a:off x="6178600" y="4692360"/>
            <a:ext cx="3492400" cy="5132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endParaRPr/>
          </a:p>
        </p:txBody>
      </p:sp>
      <p:sp>
        <p:nvSpPr>
          <p:cNvPr id="87" name="Google Shape;87;p15"/>
          <p:cNvSpPr txBox="1">
            <a:spLocks noGrp="1"/>
          </p:cNvSpPr>
          <p:nvPr>
            <p:ph type="ctrTitle" idx="4"/>
          </p:nvPr>
        </p:nvSpPr>
        <p:spPr>
          <a:xfrm rot="5400000">
            <a:off x="9222900" y="1886032"/>
            <a:ext cx="3266400" cy="6500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32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Tree>
    <p:extLst>
      <p:ext uri="{BB962C8B-B14F-4D97-AF65-F5344CB8AC3E}">
        <p14:creationId xmlns:p14="http://schemas.microsoft.com/office/powerpoint/2010/main" val="324864624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6334C67-6061-4032-8510-BB02C92D7808}" type="datetimeFigureOut">
              <a:rPr lang="en-US" smtClean="0"/>
              <a:t>5/25/2025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A8AA90A-A10F-42F4-95C7-EEA48D43CCA9}" type="slidenum">
              <a:rPr lang="en-US" smtClean="0"/>
              <a:t>‹#›</a:t>
            </a:fld>
            <a:endParaRPr lang="en-US"/>
          </a:p>
        </p:txBody>
      </p:sp>
    </p:spTree>
    <p:extLst>
      <p:ext uri="{BB962C8B-B14F-4D97-AF65-F5344CB8AC3E}">
        <p14:creationId xmlns:p14="http://schemas.microsoft.com/office/powerpoint/2010/main" val="23034625"/>
      </p:ext>
    </p:extLst>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png"/><Relationship Id="rId7"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41.jpg"/><Relationship Id="rId3" Type="http://schemas.openxmlformats.org/officeDocument/2006/relationships/image" Target="../media/image2.png"/><Relationship Id="rId7" Type="http://schemas.openxmlformats.org/officeDocument/2006/relationships/image" Target="../media/image40.jp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42.jpg"/></Relationships>
</file>

<file path=ppt/slides/_rels/slide18.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1.jpg"/></Relationships>
</file>

<file path=ppt/slides/_rels/slide19.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6.jpg"/><Relationship Id="rId4" Type="http://schemas.openxmlformats.org/officeDocument/2006/relationships/image" Target="../media/image45.jpg"/></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8.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5" name="Picture 4" descr="Claw building a card house">
            <a:extLst>
              <a:ext uri="{FF2B5EF4-FFF2-40B4-BE49-F238E27FC236}">
                <a16:creationId xmlns:a16="http://schemas.microsoft.com/office/drawing/2014/main" id="{59F8AC02-E11D-038F-6BEF-5B7986D3C511}"/>
              </a:ext>
            </a:extLst>
          </p:cNvPr>
          <p:cNvPicPr>
            <a:picLocks noChangeAspect="1"/>
          </p:cNvPicPr>
          <p:nvPr/>
        </p:nvPicPr>
        <p:blipFill>
          <a:blip r:embed="rId3">
            <a:duotone>
              <a:prstClr val="black"/>
              <a:schemeClr val="accent5">
                <a:tint val="45000"/>
                <a:satMod val="400000"/>
              </a:schemeClr>
            </a:duotone>
            <a:alphaModFix amt="25000"/>
          </a:blip>
          <a:srcRect t="27555" b="30232"/>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2F6293F-D6A6-6A0C-E82B-43EDF53F30AD}"/>
              </a:ext>
            </a:extLst>
          </p:cNvPr>
          <p:cNvSpPr>
            <a:spLocks noGrp="1"/>
          </p:cNvSpPr>
          <p:nvPr>
            <p:ph type="ctrTitle"/>
          </p:nvPr>
        </p:nvSpPr>
        <p:spPr>
          <a:xfrm>
            <a:off x="1154955" y="1447800"/>
            <a:ext cx="8825658" cy="3329581"/>
          </a:xfrm>
        </p:spPr>
        <p:txBody>
          <a:bodyPr>
            <a:normAutofit/>
          </a:bodyPr>
          <a:lstStyle/>
          <a:p>
            <a:pPr>
              <a:lnSpc>
                <a:spcPct val="90000"/>
              </a:lnSpc>
            </a:pPr>
            <a:r>
              <a:rPr lang="en-US" sz="5000"/>
              <a:t>Design and Development of low-cost bio inspired soft robot for pipeline inspection</a:t>
            </a:r>
          </a:p>
        </p:txBody>
      </p:sp>
      <p:sp>
        <p:nvSpPr>
          <p:cNvPr id="3" name="Subtitle 2">
            <a:extLst>
              <a:ext uri="{FF2B5EF4-FFF2-40B4-BE49-F238E27FC236}">
                <a16:creationId xmlns:a16="http://schemas.microsoft.com/office/drawing/2014/main" id="{36FEBBD0-7DD4-E816-0007-E8B6F61A2E03}"/>
              </a:ext>
            </a:extLst>
          </p:cNvPr>
          <p:cNvSpPr>
            <a:spLocks noGrp="1"/>
          </p:cNvSpPr>
          <p:nvPr>
            <p:ph type="subTitle" idx="1"/>
          </p:nvPr>
        </p:nvSpPr>
        <p:spPr>
          <a:xfrm>
            <a:off x="1154955" y="4777380"/>
            <a:ext cx="8825658" cy="861420"/>
          </a:xfrm>
        </p:spPr>
        <p:txBody>
          <a:bodyPr>
            <a:normAutofit/>
          </a:bodyPr>
          <a:lstStyle/>
          <a:p>
            <a:r>
              <a:rPr lang="en-US"/>
              <a:t>Prepared by : Fadhel Ali, Abdulla Salman</a:t>
            </a:r>
          </a:p>
          <a:p>
            <a:r>
              <a:rPr lang="en-US"/>
              <a:t>Supervisor: Dr. Belal ElSayed, Dr. Ahmad Abdulrahman</a:t>
            </a:r>
          </a:p>
        </p:txBody>
      </p:sp>
      <p:sp>
        <p:nvSpPr>
          <p:cNvPr id="9" name="Rectangle 8">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4169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65FDD-4C0E-E82E-9117-047F954E8B27}"/>
              </a:ext>
            </a:extLst>
          </p:cNvPr>
          <p:cNvSpPr>
            <a:spLocks noGrp="1"/>
          </p:cNvSpPr>
          <p:nvPr>
            <p:ph type="title"/>
          </p:nvPr>
        </p:nvSpPr>
        <p:spPr>
          <a:xfrm>
            <a:off x="648930" y="629266"/>
            <a:ext cx="6188190" cy="1622321"/>
          </a:xfrm>
        </p:spPr>
        <p:txBody>
          <a:bodyPr>
            <a:normAutofit/>
          </a:bodyPr>
          <a:lstStyle/>
          <a:p>
            <a:r>
              <a:rPr lang="en-US">
                <a:solidFill>
                  <a:srgbClr val="EBEBEB"/>
                </a:solidFill>
              </a:rPr>
              <a:t>Introduction</a:t>
            </a:r>
          </a:p>
        </p:txBody>
      </p:sp>
      <p:sp>
        <p:nvSpPr>
          <p:cNvPr id="3" name="Content Placeholder 2">
            <a:extLst>
              <a:ext uri="{FF2B5EF4-FFF2-40B4-BE49-F238E27FC236}">
                <a16:creationId xmlns:a16="http://schemas.microsoft.com/office/drawing/2014/main" id="{1A940097-2B0E-49F3-0617-A0DBDF3C3FF3}"/>
              </a:ext>
            </a:extLst>
          </p:cNvPr>
          <p:cNvSpPr>
            <a:spLocks noGrp="1"/>
          </p:cNvSpPr>
          <p:nvPr>
            <p:ph idx="1"/>
          </p:nvPr>
        </p:nvSpPr>
        <p:spPr>
          <a:xfrm>
            <a:off x="648930" y="2438400"/>
            <a:ext cx="6188189" cy="3785419"/>
          </a:xfrm>
        </p:spPr>
        <p:txBody>
          <a:bodyPr>
            <a:normAutofit/>
          </a:bodyPr>
          <a:lstStyle/>
          <a:p>
            <a:r>
              <a:rPr lang="en-US">
                <a:solidFill>
                  <a:srgbClr val="FFFFFF"/>
                </a:solidFill>
              </a:rPr>
              <a:t>Pipelines are widely used across the oil, gas, water, and sewage industries to transport critical resources over long distances. Regular inspection and maintenance are essential to prevent failures, leaks, and costly downtime. However, many existing inspection methods are invasive, labor-intensive, and pose safety risks especially in narrow or hazardous environments. These challenges highlight the growing need for safer, more adaptable inspection solutions in modern infrastructure systems.</a:t>
            </a:r>
          </a:p>
          <a:p>
            <a:endParaRPr lang="en-US">
              <a:solidFill>
                <a:srgbClr val="FFFFFF"/>
              </a:solidFill>
            </a:endParaRPr>
          </a:p>
        </p:txBody>
      </p:sp>
      <p:pic>
        <p:nvPicPr>
          <p:cNvPr id="5" name="Picture 4" descr="Pipes over the sea">
            <a:extLst>
              <a:ext uri="{FF2B5EF4-FFF2-40B4-BE49-F238E27FC236}">
                <a16:creationId xmlns:a16="http://schemas.microsoft.com/office/drawing/2014/main" id="{4AF930AD-B044-BEB7-34DA-AE92246F6425}"/>
              </a:ext>
            </a:extLst>
          </p:cNvPr>
          <p:cNvPicPr>
            <a:picLocks noChangeAspect="1"/>
          </p:cNvPicPr>
          <p:nvPr/>
        </p:nvPicPr>
        <p:blipFill>
          <a:blip r:embed="rId3"/>
          <a:srcRect l="20890" r="24831"/>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520107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1EB51-95A4-5666-980F-30776EC3A2D6}"/>
              </a:ext>
            </a:extLst>
          </p:cNvPr>
          <p:cNvSpPr>
            <a:spLocks noGrp="1"/>
          </p:cNvSpPr>
          <p:nvPr>
            <p:ph type="title"/>
          </p:nvPr>
        </p:nvSpPr>
        <p:spPr>
          <a:xfrm>
            <a:off x="646111" y="452718"/>
            <a:ext cx="9404723" cy="1400530"/>
          </a:xfrm>
        </p:spPr>
        <p:txBody>
          <a:bodyPr>
            <a:normAutofit/>
          </a:bodyPr>
          <a:lstStyle/>
          <a:p>
            <a:r>
              <a:rPr lang="en-US" dirty="0"/>
              <a:t>Literature review</a:t>
            </a:r>
          </a:p>
        </p:txBody>
      </p:sp>
      <p:graphicFrame>
        <p:nvGraphicFramePr>
          <p:cNvPr id="23" name="Content Placeholder 2">
            <a:extLst>
              <a:ext uri="{FF2B5EF4-FFF2-40B4-BE49-F238E27FC236}">
                <a16:creationId xmlns:a16="http://schemas.microsoft.com/office/drawing/2014/main" id="{D43AF7FD-DCB8-F7E6-0847-33E7B27CA496}"/>
              </a:ext>
            </a:extLst>
          </p:cNvPr>
          <p:cNvGraphicFramePr>
            <a:graphicFrameLocks noGrp="1"/>
          </p:cNvGraphicFramePr>
          <p:nvPr>
            <p:ph idx="1"/>
            <p:extLst>
              <p:ext uri="{D42A27DB-BD31-4B8C-83A1-F6EECF244321}">
                <p14:modId xmlns:p14="http://schemas.microsoft.com/office/powerpoint/2010/main" val="2368969164"/>
              </p:ext>
            </p:extLst>
          </p:nvPr>
        </p:nvGraphicFramePr>
        <p:xfrm>
          <a:off x="646111" y="2140085"/>
          <a:ext cx="9404352" cy="4056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88946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A63D5-3647-31AA-9CE5-03C7525EF13E}"/>
              </a:ext>
            </a:extLst>
          </p:cNvPr>
          <p:cNvSpPr>
            <a:spLocks noGrp="1"/>
          </p:cNvSpPr>
          <p:nvPr>
            <p:ph type="title"/>
          </p:nvPr>
        </p:nvSpPr>
        <p:spPr>
          <a:xfrm>
            <a:off x="648929" y="629266"/>
            <a:ext cx="4944152" cy="1622321"/>
          </a:xfrm>
        </p:spPr>
        <p:txBody>
          <a:bodyPr>
            <a:normAutofit/>
          </a:bodyPr>
          <a:lstStyle/>
          <a:p>
            <a:r>
              <a:rPr lang="en-US"/>
              <a:t>Problem Statement</a:t>
            </a:r>
          </a:p>
        </p:txBody>
      </p:sp>
      <p:graphicFrame>
        <p:nvGraphicFramePr>
          <p:cNvPr id="5" name="Content Placeholder 2">
            <a:extLst>
              <a:ext uri="{FF2B5EF4-FFF2-40B4-BE49-F238E27FC236}">
                <a16:creationId xmlns:a16="http://schemas.microsoft.com/office/drawing/2014/main" id="{3419E3A1-2070-D03D-604B-DFE0AA43E9B3}"/>
              </a:ext>
            </a:extLst>
          </p:cNvPr>
          <p:cNvGraphicFramePr>
            <a:graphicFrameLocks noGrp="1"/>
          </p:cNvGraphicFramePr>
          <p:nvPr>
            <p:ph idx="1"/>
            <p:extLst>
              <p:ext uri="{D42A27DB-BD31-4B8C-83A1-F6EECF244321}">
                <p14:modId xmlns:p14="http://schemas.microsoft.com/office/powerpoint/2010/main" val="348027542"/>
              </p:ext>
            </p:extLst>
          </p:nvPr>
        </p:nvGraphicFramePr>
        <p:xfrm>
          <a:off x="648930" y="2438400"/>
          <a:ext cx="4944151" cy="37854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26" name="Picture 2" descr="Something to Prove - ASME">
            <a:extLst>
              <a:ext uri="{FF2B5EF4-FFF2-40B4-BE49-F238E27FC236}">
                <a16:creationId xmlns:a16="http://schemas.microsoft.com/office/drawing/2014/main" id="{7840B178-FAD8-69A7-E29D-B4095F91C03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31220" r="-2" b="-2"/>
          <a:stretch>
            <a:fillRect/>
          </a:stretch>
        </p:blipFill>
        <p:spPr bwMode="auto">
          <a:xfrm>
            <a:off x="6902956" y="806365"/>
            <a:ext cx="4479038" cy="509572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7526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1AB14-6ECF-20C3-D2AB-D0553F91672C}"/>
              </a:ext>
            </a:extLst>
          </p:cNvPr>
          <p:cNvSpPr>
            <a:spLocks noGrp="1"/>
          </p:cNvSpPr>
          <p:nvPr>
            <p:ph type="title"/>
          </p:nvPr>
        </p:nvSpPr>
        <p:spPr>
          <a:xfrm>
            <a:off x="648930" y="629267"/>
            <a:ext cx="9252154" cy="1016654"/>
          </a:xfrm>
        </p:spPr>
        <p:txBody>
          <a:bodyPr>
            <a:normAutofit/>
          </a:bodyPr>
          <a:lstStyle/>
          <a:p>
            <a:r>
              <a:rPr lang="en-US" dirty="0">
                <a:solidFill>
                  <a:schemeClr val="tx1"/>
                </a:solidFill>
              </a:rPr>
              <a:t>Objectives</a:t>
            </a:r>
          </a:p>
        </p:txBody>
      </p:sp>
      <p:graphicFrame>
        <p:nvGraphicFramePr>
          <p:cNvPr id="5" name="Content Placeholder 2">
            <a:extLst>
              <a:ext uri="{FF2B5EF4-FFF2-40B4-BE49-F238E27FC236}">
                <a16:creationId xmlns:a16="http://schemas.microsoft.com/office/drawing/2014/main" id="{7AFF10CD-0BF0-191C-8687-70B6C4ABEFF0}"/>
              </a:ext>
            </a:extLst>
          </p:cNvPr>
          <p:cNvGraphicFramePr>
            <a:graphicFrameLocks noGrp="1"/>
          </p:cNvGraphicFramePr>
          <p:nvPr>
            <p:ph idx="1"/>
            <p:extLst>
              <p:ext uri="{D42A27DB-BD31-4B8C-83A1-F6EECF244321}">
                <p14:modId xmlns:p14="http://schemas.microsoft.com/office/powerpoint/2010/main" val="2899705542"/>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8500814"/>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12" name="Google Shape;258;p38">
            <a:extLst>
              <a:ext uri="{FF2B5EF4-FFF2-40B4-BE49-F238E27FC236}">
                <a16:creationId xmlns:a16="http://schemas.microsoft.com/office/drawing/2014/main" id="{AA295F5A-E3A0-CFC1-3671-C0AA52656FC4}"/>
              </a:ext>
            </a:extLst>
          </p:cNvPr>
          <p:cNvSpPr txBox="1">
            <a:spLocks noGrp="1"/>
          </p:cNvSpPr>
          <p:nvPr>
            <p:ph type="subTitle" idx="1"/>
          </p:nvPr>
        </p:nvSpPr>
        <p:spPr>
          <a:xfrm>
            <a:off x="3446681" y="1434080"/>
            <a:ext cx="2085200" cy="1483200"/>
          </a:xfrm>
          <a:prstGeom prst="rect">
            <a:avLst/>
          </a:prstGeom>
        </p:spPr>
        <p:txBody>
          <a:bodyPr spcFirstLastPara="1" vert="horz" wrap="square" lIns="121900" tIns="121900" rIns="121900" bIns="121900" rtlCol="0" anchor="t" anchorCtr="0">
            <a:noAutofit/>
          </a:bodyPr>
          <a:lstStyle/>
          <a:p>
            <a:pPr marL="0" indent="0"/>
            <a:r>
              <a:rPr lang="en-US" dirty="0"/>
              <a:t>Housing for the balloon</a:t>
            </a:r>
            <a:endParaRPr dirty="0"/>
          </a:p>
        </p:txBody>
      </p:sp>
      <p:sp>
        <p:nvSpPr>
          <p:cNvPr id="363" name="Google Shape;363;p41"/>
          <p:cNvSpPr txBox="1">
            <a:spLocks noGrp="1"/>
          </p:cNvSpPr>
          <p:nvPr>
            <p:ph type="ctrTitle"/>
          </p:nvPr>
        </p:nvSpPr>
        <p:spPr>
          <a:xfrm>
            <a:off x="3435458" y="1191024"/>
            <a:ext cx="3492400" cy="513200"/>
          </a:xfrm>
          <a:prstGeom prst="rect">
            <a:avLst/>
          </a:prstGeom>
        </p:spPr>
        <p:txBody>
          <a:bodyPr spcFirstLastPara="1" vert="horz" wrap="square" lIns="121900" tIns="121900" rIns="121900" bIns="121900" rtlCol="0" anchor="b" anchorCtr="0">
            <a:noAutofit/>
          </a:bodyPr>
          <a:lstStyle/>
          <a:p>
            <a:r>
              <a:rPr lang="en" dirty="0"/>
              <a:t>Radial Shell</a:t>
            </a:r>
            <a:endParaRPr dirty="0"/>
          </a:p>
        </p:txBody>
      </p:sp>
      <p:sp>
        <p:nvSpPr>
          <p:cNvPr id="364" name="Google Shape;364;p41"/>
          <p:cNvSpPr txBox="1">
            <a:spLocks noGrp="1"/>
          </p:cNvSpPr>
          <p:nvPr>
            <p:ph type="ctrTitle" idx="3"/>
          </p:nvPr>
        </p:nvSpPr>
        <p:spPr>
          <a:xfrm>
            <a:off x="3331997" y="3231152"/>
            <a:ext cx="3492400" cy="513200"/>
          </a:xfrm>
          <a:prstGeom prst="rect">
            <a:avLst/>
          </a:prstGeom>
        </p:spPr>
        <p:txBody>
          <a:bodyPr spcFirstLastPara="1" vert="horz" wrap="square" lIns="121900" tIns="121900" rIns="121900" bIns="121900" rtlCol="0" anchor="b" anchorCtr="0">
            <a:noAutofit/>
          </a:bodyPr>
          <a:lstStyle/>
          <a:p>
            <a:r>
              <a:rPr lang="en" dirty="0"/>
              <a:t>Balloon</a:t>
            </a:r>
            <a:endParaRPr dirty="0">
              <a:solidFill>
                <a:schemeClr val="lt1"/>
              </a:solidFill>
            </a:endParaRPr>
          </a:p>
        </p:txBody>
      </p:sp>
      <p:sp>
        <p:nvSpPr>
          <p:cNvPr id="358" name="Google Shape;358;p41"/>
          <p:cNvSpPr txBox="1">
            <a:spLocks noGrp="1"/>
          </p:cNvSpPr>
          <p:nvPr>
            <p:ph type="ctrTitle" idx="4"/>
          </p:nvPr>
        </p:nvSpPr>
        <p:spPr>
          <a:xfrm>
            <a:off x="7720745" y="2547428"/>
            <a:ext cx="3266400" cy="650000"/>
          </a:xfrm>
          <a:prstGeom prst="rect">
            <a:avLst/>
          </a:prstGeom>
        </p:spPr>
        <p:txBody>
          <a:bodyPr spcFirstLastPara="1" vert="horz" wrap="square" lIns="121900" tIns="121900" rIns="121900" bIns="121900" rtlCol="0" anchor="ctr" anchorCtr="0">
            <a:noAutofit/>
          </a:bodyPr>
          <a:lstStyle/>
          <a:p>
            <a:r>
              <a:rPr lang="en" dirty="0"/>
              <a:t>Design Overview</a:t>
            </a:r>
            <a:endParaRPr dirty="0"/>
          </a:p>
        </p:txBody>
      </p:sp>
      <p:sp>
        <p:nvSpPr>
          <p:cNvPr id="6" name="Google Shape;364;p41">
            <a:extLst>
              <a:ext uri="{FF2B5EF4-FFF2-40B4-BE49-F238E27FC236}">
                <a16:creationId xmlns:a16="http://schemas.microsoft.com/office/drawing/2014/main" id="{A009BF8E-1CF8-A818-8929-8D68C67B2549}"/>
              </a:ext>
            </a:extLst>
          </p:cNvPr>
          <p:cNvSpPr txBox="1">
            <a:spLocks/>
          </p:cNvSpPr>
          <p:nvPr/>
        </p:nvSpPr>
        <p:spPr>
          <a:xfrm>
            <a:off x="3331997" y="5342057"/>
            <a:ext cx="3492400" cy="513200"/>
          </a:xfrm>
          <a:prstGeom prst="rect">
            <a:avLst/>
          </a:prstGeom>
          <a:noFill/>
          <a:ln>
            <a:noFill/>
          </a:ln>
        </p:spPr>
        <p:txBody>
          <a:bodyPr spcFirstLastPara="1" wrap="square" lIns="121900" tIns="121900" rIns="121900" bIns="1219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800"/>
              <a:buFont typeface="Livvic"/>
              <a:buNone/>
              <a:defRPr sz="1800" b="1" i="0" u="none" strike="noStrike" cap="none">
                <a:solidFill>
                  <a:schemeClr val="dk1"/>
                </a:solidFill>
                <a:latin typeface="Livvic"/>
                <a:ea typeface="Livvic"/>
                <a:cs typeface="Livvic"/>
                <a:sym typeface="Livvic"/>
              </a:defRPr>
            </a:lvl1pPr>
            <a:lvl2pPr marR="0" lvl="1" algn="l" rtl="0">
              <a:lnSpc>
                <a:spcPct val="100000"/>
              </a:lnSpc>
              <a:spcBef>
                <a:spcPts val="0"/>
              </a:spcBef>
              <a:spcAft>
                <a:spcPts val="0"/>
              </a:spcAft>
              <a:buClr>
                <a:schemeClr val="dk1"/>
              </a:buClr>
              <a:buSzPts val="1800"/>
              <a:buFont typeface="Livvic"/>
              <a:buNone/>
              <a:defRPr sz="1800" b="1" i="0" u="none" strike="noStrike" cap="none">
                <a:solidFill>
                  <a:schemeClr val="dk1"/>
                </a:solidFill>
                <a:latin typeface="Livvic"/>
                <a:ea typeface="Livvic"/>
                <a:cs typeface="Livvic"/>
                <a:sym typeface="Livvic"/>
              </a:defRPr>
            </a:lvl2pPr>
            <a:lvl3pPr marR="0" lvl="2" algn="l" rtl="0">
              <a:lnSpc>
                <a:spcPct val="100000"/>
              </a:lnSpc>
              <a:spcBef>
                <a:spcPts val="0"/>
              </a:spcBef>
              <a:spcAft>
                <a:spcPts val="0"/>
              </a:spcAft>
              <a:buClr>
                <a:schemeClr val="dk1"/>
              </a:buClr>
              <a:buSzPts val="1800"/>
              <a:buFont typeface="Livvic"/>
              <a:buNone/>
              <a:defRPr sz="1800" b="1" i="0" u="none" strike="noStrike" cap="none">
                <a:solidFill>
                  <a:schemeClr val="dk1"/>
                </a:solidFill>
                <a:latin typeface="Livvic"/>
                <a:ea typeface="Livvic"/>
                <a:cs typeface="Livvic"/>
                <a:sym typeface="Livvic"/>
              </a:defRPr>
            </a:lvl3pPr>
            <a:lvl4pPr marR="0" lvl="3" algn="l" rtl="0">
              <a:lnSpc>
                <a:spcPct val="100000"/>
              </a:lnSpc>
              <a:spcBef>
                <a:spcPts val="0"/>
              </a:spcBef>
              <a:spcAft>
                <a:spcPts val="0"/>
              </a:spcAft>
              <a:buClr>
                <a:schemeClr val="dk1"/>
              </a:buClr>
              <a:buSzPts val="1800"/>
              <a:buFont typeface="Livvic"/>
              <a:buNone/>
              <a:defRPr sz="1800" b="1" i="0" u="none" strike="noStrike" cap="none">
                <a:solidFill>
                  <a:schemeClr val="dk1"/>
                </a:solidFill>
                <a:latin typeface="Livvic"/>
                <a:ea typeface="Livvic"/>
                <a:cs typeface="Livvic"/>
                <a:sym typeface="Livvic"/>
              </a:defRPr>
            </a:lvl4pPr>
            <a:lvl5pPr marR="0" lvl="4" algn="l" rtl="0">
              <a:lnSpc>
                <a:spcPct val="100000"/>
              </a:lnSpc>
              <a:spcBef>
                <a:spcPts val="0"/>
              </a:spcBef>
              <a:spcAft>
                <a:spcPts val="0"/>
              </a:spcAft>
              <a:buClr>
                <a:schemeClr val="dk1"/>
              </a:buClr>
              <a:buSzPts val="1800"/>
              <a:buFont typeface="Livvic"/>
              <a:buNone/>
              <a:defRPr sz="1800" b="1" i="0" u="none" strike="noStrike" cap="none">
                <a:solidFill>
                  <a:schemeClr val="dk1"/>
                </a:solidFill>
                <a:latin typeface="Livvic"/>
                <a:ea typeface="Livvic"/>
                <a:cs typeface="Livvic"/>
                <a:sym typeface="Livvic"/>
              </a:defRPr>
            </a:lvl5pPr>
            <a:lvl6pPr marR="0" lvl="5" algn="l" rtl="0">
              <a:lnSpc>
                <a:spcPct val="100000"/>
              </a:lnSpc>
              <a:spcBef>
                <a:spcPts val="0"/>
              </a:spcBef>
              <a:spcAft>
                <a:spcPts val="0"/>
              </a:spcAft>
              <a:buClr>
                <a:schemeClr val="dk1"/>
              </a:buClr>
              <a:buSzPts val="1800"/>
              <a:buFont typeface="Livvic"/>
              <a:buNone/>
              <a:defRPr sz="1800" b="1" i="0" u="none" strike="noStrike" cap="none">
                <a:solidFill>
                  <a:schemeClr val="dk1"/>
                </a:solidFill>
                <a:latin typeface="Livvic"/>
                <a:ea typeface="Livvic"/>
                <a:cs typeface="Livvic"/>
                <a:sym typeface="Livvic"/>
              </a:defRPr>
            </a:lvl6pPr>
            <a:lvl7pPr marR="0" lvl="6" algn="l" rtl="0">
              <a:lnSpc>
                <a:spcPct val="100000"/>
              </a:lnSpc>
              <a:spcBef>
                <a:spcPts val="0"/>
              </a:spcBef>
              <a:spcAft>
                <a:spcPts val="0"/>
              </a:spcAft>
              <a:buClr>
                <a:schemeClr val="dk1"/>
              </a:buClr>
              <a:buSzPts val="1800"/>
              <a:buFont typeface="Livvic"/>
              <a:buNone/>
              <a:defRPr sz="1800" b="1" i="0" u="none" strike="noStrike" cap="none">
                <a:solidFill>
                  <a:schemeClr val="dk1"/>
                </a:solidFill>
                <a:latin typeface="Livvic"/>
                <a:ea typeface="Livvic"/>
                <a:cs typeface="Livvic"/>
                <a:sym typeface="Livvic"/>
              </a:defRPr>
            </a:lvl7pPr>
            <a:lvl8pPr marR="0" lvl="7" algn="l" rtl="0">
              <a:lnSpc>
                <a:spcPct val="100000"/>
              </a:lnSpc>
              <a:spcBef>
                <a:spcPts val="0"/>
              </a:spcBef>
              <a:spcAft>
                <a:spcPts val="0"/>
              </a:spcAft>
              <a:buClr>
                <a:schemeClr val="dk1"/>
              </a:buClr>
              <a:buSzPts val="1800"/>
              <a:buFont typeface="Livvic"/>
              <a:buNone/>
              <a:defRPr sz="1800" b="1" i="0" u="none" strike="noStrike" cap="none">
                <a:solidFill>
                  <a:schemeClr val="dk1"/>
                </a:solidFill>
                <a:latin typeface="Livvic"/>
                <a:ea typeface="Livvic"/>
                <a:cs typeface="Livvic"/>
                <a:sym typeface="Livvic"/>
              </a:defRPr>
            </a:lvl8pPr>
            <a:lvl9pPr marR="0" lvl="8" algn="l" rtl="0">
              <a:lnSpc>
                <a:spcPct val="100000"/>
              </a:lnSpc>
              <a:spcBef>
                <a:spcPts val="0"/>
              </a:spcBef>
              <a:spcAft>
                <a:spcPts val="0"/>
              </a:spcAft>
              <a:buClr>
                <a:schemeClr val="dk1"/>
              </a:buClr>
              <a:buSzPts val="1800"/>
              <a:buFont typeface="Livvic"/>
              <a:buNone/>
              <a:defRPr sz="1800" b="1" i="0" u="none" strike="noStrike" cap="none">
                <a:solidFill>
                  <a:schemeClr val="dk1"/>
                </a:solidFill>
                <a:latin typeface="Livvic"/>
                <a:ea typeface="Livvic"/>
                <a:cs typeface="Livvic"/>
                <a:sym typeface="Livvic"/>
              </a:defRPr>
            </a:lvl9pPr>
          </a:lstStyle>
          <a:p>
            <a:r>
              <a:rPr lang="en-US" sz="2400" b="0" dirty="0">
                <a:latin typeface="+mj-lt"/>
              </a:rPr>
              <a:t>Linear Actuator</a:t>
            </a:r>
            <a:endParaRPr lang="en-US" sz="2400" b="0" dirty="0">
              <a:solidFill>
                <a:schemeClr val="lt1"/>
              </a:solidFill>
              <a:latin typeface="+mj-lt"/>
            </a:endParaRPr>
          </a:p>
        </p:txBody>
      </p:sp>
      <p:pic>
        <p:nvPicPr>
          <p:cNvPr id="3" name="Picture 2">
            <a:extLst>
              <a:ext uri="{FF2B5EF4-FFF2-40B4-BE49-F238E27FC236}">
                <a16:creationId xmlns:a16="http://schemas.microsoft.com/office/drawing/2014/main" id="{87A01A04-DB0B-37A5-923F-5D8A44E5E8C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626810" y="3870643"/>
            <a:ext cx="4609337" cy="2436604"/>
          </a:xfrm>
          <a:prstGeom prst="rect">
            <a:avLst/>
          </a:prstGeom>
          <a:ln w="19050">
            <a:solidFill>
              <a:schemeClr val="tx1"/>
            </a:solidFill>
          </a:ln>
        </p:spPr>
      </p:pic>
      <p:pic>
        <p:nvPicPr>
          <p:cNvPr id="8" name="Picture 7">
            <a:extLst>
              <a:ext uri="{FF2B5EF4-FFF2-40B4-BE49-F238E27FC236}">
                <a16:creationId xmlns:a16="http://schemas.microsoft.com/office/drawing/2014/main" id="{9F939218-5238-9A4F-8E73-CDF0CF61B4A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98450" y="461088"/>
            <a:ext cx="1915913" cy="1749945"/>
          </a:xfrm>
          <a:prstGeom prst="rect">
            <a:avLst/>
          </a:prstGeom>
          <a:ln w="28575">
            <a:solidFill>
              <a:schemeClr val="tx1"/>
            </a:solidFill>
          </a:ln>
        </p:spPr>
      </p:pic>
      <p:pic>
        <p:nvPicPr>
          <p:cNvPr id="9" name="Picture 8">
            <a:extLst>
              <a:ext uri="{FF2B5EF4-FFF2-40B4-BE49-F238E27FC236}">
                <a16:creationId xmlns:a16="http://schemas.microsoft.com/office/drawing/2014/main" id="{4D590989-E22C-2F03-3231-10627869C56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5853" y="2556228"/>
            <a:ext cx="1796564" cy="1920465"/>
          </a:xfrm>
          <a:prstGeom prst="rect">
            <a:avLst/>
          </a:prstGeom>
          <a:ln w="28575">
            <a:solidFill>
              <a:schemeClr val="tx1"/>
            </a:solidFill>
          </a:ln>
        </p:spPr>
      </p:pic>
      <p:sp>
        <p:nvSpPr>
          <p:cNvPr id="13" name="Google Shape;258;p38">
            <a:extLst>
              <a:ext uri="{FF2B5EF4-FFF2-40B4-BE49-F238E27FC236}">
                <a16:creationId xmlns:a16="http://schemas.microsoft.com/office/drawing/2014/main" id="{C883504F-D07F-47C9-7297-31404D2ED09A}"/>
              </a:ext>
            </a:extLst>
          </p:cNvPr>
          <p:cNvSpPr txBox="1">
            <a:spLocks/>
          </p:cNvSpPr>
          <p:nvPr/>
        </p:nvSpPr>
        <p:spPr>
          <a:xfrm>
            <a:off x="3331997" y="3480127"/>
            <a:ext cx="2085200" cy="1483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1pPr>
            <a:lvl2pPr marL="914400" marR="0" lvl="1"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2pPr>
            <a:lvl3pPr marL="1371600" marR="0" lvl="2"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3pPr>
            <a:lvl4pPr marL="1828800" marR="0" lvl="3"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4pPr>
            <a:lvl5pPr marL="2286000" marR="0" lvl="4"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5pPr>
            <a:lvl6pPr marL="2743200" marR="0" lvl="5"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6pPr>
            <a:lvl7pPr marL="3200400" marR="0" lvl="6"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7pPr>
            <a:lvl8pPr marL="3657600" marR="0" lvl="7"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8pPr>
            <a:lvl9pPr marL="4114800" marR="0" lvl="8"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9pPr>
          </a:lstStyle>
          <a:p>
            <a:pPr marL="0" indent="0"/>
            <a:r>
              <a:rPr lang="en-US" sz="1333" dirty="0"/>
              <a:t>Gripping pipe walls</a:t>
            </a:r>
          </a:p>
        </p:txBody>
      </p:sp>
      <p:sp>
        <p:nvSpPr>
          <p:cNvPr id="14" name="Google Shape;258;p38">
            <a:extLst>
              <a:ext uri="{FF2B5EF4-FFF2-40B4-BE49-F238E27FC236}">
                <a16:creationId xmlns:a16="http://schemas.microsoft.com/office/drawing/2014/main" id="{1A1DDCE2-FB73-F984-0BAF-62205CA00EB5}"/>
              </a:ext>
            </a:extLst>
          </p:cNvPr>
          <p:cNvSpPr txBox="1">
            <a:spLocks/>
          </p:cNvSpPr>
          <p:nvPr/>
        </p:nvSpPr>
        <p:spPr>
          <a:xfrm>
            <a:off x="3331997" y="5598657"/>
            <a:ext cx="2085200" cy="1483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1pPr>
            <a:lvl2pPr marL="914400" marR="0" lvl="1"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2pPr>
            <a:lvl3pPr marL="1371600" marR="0" lvl="2"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3pPr>
            <a:lvl4pPr marL="1828800" marR="0" lvl="3"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4pPr>
            <a:lvl5pPr marL="2286000" marR="0" lvl="4"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5pPr>
            <a:lvl6pPr marL="2743200" marR="0" lvl="5"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6pPr>
            <a:lvl7pPr marL="3200400" marR="0" lvl="6"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7pPr>
            <a:lvl8pPr marL="3657600" marR="0" lvl="7"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8pPr>
            <a:lvl9pPr marL="4114800" marR="0" lvl="8" indent="-304800" algn="l" rtl="0">
              <a:lnSpc>
                <a:spcPct val="100000"/>
              </a:lnSpc>
              <a:spcBef>
                <a:spcPts val="0"/>
              </a:spcBef>
              <a:spcAft>
                <a:spcPts val="0"/>
              </a:spcAft>
              <a:buClr>
                <a:schemeClr val="dk1"/>
              </a:buClr>
              <a:buSzPts val="1000"/>
              <a:buFont typeface="Catamaran Light"/>
              <a:buNone/>
              <a:defRPr sz="1000" b="0" i="0" u="none" strike="noStrike" cap="none">
                <a:solidFill>
                  <a:schemeClr val="dk1"/>
                </a:solidFill>
                <a:latin typeface="Catamaran Light"/>
                <a:ea typeface="Catamaran Light"/>
                <a:cs typeface="Catamaran Light"/>
                <a:sym typeface="Catamaran Light"/>
              </a:defRPr>
            </a:lvl9pPr>
          </a:lstStyle>
          <a:p>
            <a:pPr marL="0" indent="0"/>
            <a:r>
              <a:rPr lang="en-US" sz="1333" dirty="0"/>
              <a:t>Axial motion</a:t>
            </a:r>
          </a:p>
        </p:txBody>
      </p:sp>
      <p:pic>
        <p:nvPicPr>
          <p:cNvPr id="4" name="Picture 3">
            <a:extLst>
              <a:ext uri="{FF2B5EF4-FFF2-40B4-BE49-F238E27FC236}">
                <a16:creationId xmlns:a16="http://schemas.microsoft.com/office/drawing/2014/main" id="{35468DAA-2729-B707-D025-AB2A1795AF6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241863" y="4792889"/>
            <a:ext cx="1236817" cy="1611537"/>
          </a:xfrm>
          <a:prstGeom prst="rect">
            <a:avLst/>
          </a:prstGeom>
          <a:ln w="28575">
            <a:solidFill>
              <a:schemeClr val="tx1"/>
            </a:solidFill>
          </a:ln>
        </p:spPr>
      </p:pic>
      <p:pic>
        <p:nvPicPr>
          <p:cNvPr id="2" name="Picture 1">
            <a:extLst>
              <a:ext uri="{FF2B5EF4-FFF2-40B4-BE49-F238E27FC236}">
                <a16:creationId xmlns:a16="http://schemas.microsoft.com/office/drawing/2014/main" id="{4B107CA6-4173-22EA-3B7D-9FDF62D7CC5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6356909" y="540705"/>
            <a:ext cx="1796564" cy="1813838"/>
          </a:xfrm>
          <a:prstGeom prst="rect">
            <a:avLst/>
          </a:prstGeom>
          <a:ln w="28575">
            <a:solidFill>
              <a:schemeClr val="tx1"/>
            </a:solidFill>
          </a:ln>
        </p:spPr>
      </p:pic>
      <p:sp>
        <p:nvSpPr>
          <p:cNvPr id="5" name="Google Shape;363;p41">
            <a:extLst>
              <a:ext uri="{FF2B5EF4-FFF2-40B4-BE49-F238E27FC236}">
                <a16:creationId xmlns:a16="http://schemas.microsoft.com/office/drawing/2014/main" id="{D3BC6B6C-4374-DB4E-F8C6-7B5F9E06D746}"/>
              </a:ext>
            </a:extLst>
          </p:cNvPr>
          <p:cNvSpPr txBox="1">
            <a:spLocks/>
          </p:cNvSpPr>
          <p:nvPr/>
        </p:nvSpPr>
        <p:spPr>
          <a:xfrm>
            <a:off x="8311345" y="1177480"/>
            <a:ext cx="3492400" cy="513200"/>
          </a:xfrm>
          <a:prstGeom prst="rect">
            <a:avLst/>
          </a:prstGeom>
          <a:ln>
            <a:noFill/>
          </a:ln>
        </p:spPr>
        <p:txBody>
          <a:bodyPr spcFirstLastPara="1" vert="horz" wrap="square" lIns="121900" tIns="121900" rIns="121900" bIns="121900" rtlCol="0" anchor="b" anchorCtr="0">
            <a:noAutofit/>
          </a:bodyPr>
          <a:lstStyle>
            <a:lvl1pPr lvl="0" algn="l" defTabSz="914400" rtl="0" eaLnBrk="1" latinLnBrk="0" hangingPunct="1">
              <a:lnSpc>
                <a:spcPct val="90000"/>
              </a:lnSpc>
              <a:spcBef>
                <a:spcPts val="0"/>
              </a:spcBef>
              <a:spcAft>
                <a:spcPts val="0"/>
              </a:spcAft>
              <a:buSzPts val="1800"/>
              <a:buNone/>
              <a:defRPr sz="2400" kern="1200">
                <a:solidFill>
                  <a:schemeClr val="tx1"/>
                </a:solidFill>
                <a:latin typeface="+mj-lt"/>
                <a:ea typeface="+mj-ea"/>
                <a:cs typeface="+mj-cs"/>
              </a:defRPr>
            </a:lvl1pPr>
            <a:lvl2pPr lvl="1" rtl="0">
              <a:spcBef>
                <a:spcPts val="0"/>
              </a:spcBef>
              <a:spcAft>
                <a:spcPts val="0"/>
              </a:spcAft>
              <a:buSzPts val="1800"/>
              <a:buNone/>
              <a:defRPr sz="2400"/>
            </a:lvl2pPr>
            <a:lvl3pPr lvl="2" rtl="0">
              <a:spcBef>
                <a:spcPts val="0"/>
              </a:spcBef>
              <a:spcAft>
                <a:spcPts val="0"/>
              </a:spcAft>
              <a:buSzPts val="1800"/>
              <a:buNone/>
              <a:defRPr sz="2400"/>
            </a:lvl3pPr>
            <a:lvl4pPr lvl="3" rtl="0">
              <a:spcBef>
                <a:spcPts val="0"/>
              </a:spcBef>
              <a:spcAft>
                <a:spcPts val="0"/>
              </a:spcAft>
              <a:buSzPts val="1800"/>
              <a:buNone/>
              <a:defRPr sz="2400"/>
            </a:lvl4pPr>
            <a:lvl5pPr lvl="4" rtl="0">
              <a:spcBef>
                <a:spcPts val="0"/>
              </a:spcBef>
              <a:spcAft>
                <a:spcPts val="0"/>
              </a:spcAft>
              <a:buSzPts val="1800"/>
              <a:buNone/>
              <a:defRPr sz="2400"/>
            </a:lvl5pPr>
            <a:lvl6pPr lvl="5" rtl="0">
              <a:spcBef>
                <a:spcPts val="0"/>
              </a:spcBef>
              <a:spcAft>
                <a:spcPts val="0"/>
              </a:spcAft>
              <a:buSzPts val="1800"/>
              <a:buNone/>
              <a:defRPr sz="2400"/>
            </a:lvl6pPr>
            <a:lvl7pPr lvl="6" rtl="0">
              <a:spcBef>
                <a:spcPts val="0"/>
              </a:spcBef>
              <a:spcAft>
                <a:spcPts val="0"/>
              </a:spcAft>
              <a:buSzPts val="1800"/>
              <a:buNone/>
              <a:defRPr sz="2400"/>
            </a:lvl7pPr>
            <a:lvl8pPr lvl="7" rtl="0">
              <a:spcBef>
                <a:spcPts val="0"/>
              </a:spcBef>
              <a:spcAft>
                <a:spcPts val="0"/>
              </a:spcAft>
              <a:buSzPts val="1800"/>
              <a:buNone/>
              <a:defRPr sz="2400"/>
            </a:lvl8pPr>
            <a:lvl9pPr lvl="8" rtl="0">
              <a:spcBef>
                <a:spcPts val="0"/>
              </a:spcBef>
              <a:spcAft>
                <a:spcPts val="0"/>
              </a:spcAft>
              <a:buSzPts val="1800"/>
              <a:buNone/>
              <a:defRPr sz="2400"/>
            </a:lvl9pPr>
          </a:lstStyle>
          <a:p>
            <a:r>
              <a:rPr lang="en-US" dirty="0"/>
              <a:t>Connector</a:t>
            </a:r>
          </a:p>
        </p:txBody>
      </p:sp>
      <p:sp>
        <p:nvSpPr>
          <p:cNvPr id="7" name="Google Shape;258;p38">
            <a:extLst>
              <a:ext uri="{FF2B5EF4-FFF2-40B4-BE49-F238E27FC236}">
                <a16:creationId xmlns:a16="http://schemas.microsoft.com/office/drawing/2014/main" id="{70C51ED1-5F7A-5DC4-0429-F770360E33D6}"/>
              </a:ext>
            </a:extLst>
          </p:cNvPr>
          <p:cNvSpPr txBox="1">
            <a:spLocks/>
          </p:cNvSpPr>
          <p:nvPr/>
        </p:nvSpPr>
        <p:spPr>
          <a:xfrm>
            <a:off x="8311345" y="1417282"/>
            <a:ext cx="2085200" cy="1483200"/>
          </a:xfrm>
          <a:prstGeom prst="rect">
            <a:avLst/>
          </a:prstGeom>
        </p:spPr>
        <p:txBody>
          <a:bodyPr spcFirstLastPara="1" vert="horz" wrap="square" lIns="121900" tIns="121900" rIns="121900" bIns="121900" rtlCol="0" anchor="t" anchorCtr="0">
            <a:noAutofit/>
          </a:bodyPr>
          <a:lstStyle>
            <a:lvl1pPr marL="228600" lvl="0" indent="-228600" algn="l" defTabSz="914400" rtl="0" eaLnBrk="1" latinLnBrk="0" hangingPunct="1">
              <a:lnSpc>
                <a:spcPct val="100000"/>
              </a:lnSpc>
              <a:spcBef>
                <a:spcPts val="0"/>
              </a:spcBef>
              <a:spcAft>
                <a:spcPts val="0"/>
              </a:spcAft>
              <a:buSzPts val="1000"/>
              <a:buFont typeface="Arial" panose="020B0604020202020204" pitchFamily="34" charset="0"/>
              <a:buNone/>
              <a:defRPr sz="1333" kern="1200">
                <a:solidFill>
                  <a:schemeClr val="tx1"/>
                </a:solidFill>
                <a:latin typeface="+mn-lt"/>
                <a:ea typeface="+mn-ea"/>
                <a:cs typeface="+mn-cs"/>
              </a:defRPr>
            </a:lvl1pPr>
            <a:lvl2pPr marL="685800" lvl="1" indent="-228600" algn="l" defTabSz="914400" rtl="0" eaLnBrk="1" latinLnBrk="0" hangingPunct="1">
              <a:lnSpc>
                <a:spcPct val="100000"/>
              </a:lnSpc>
              <a:spcBef>
                <a:spcPts val="0"/>
              </a:spcBef>
              <a:spcAft>
                <a:spcPts val="0"/>
              </a:spcAft>
              <a:buSzPts val="1000"/>
              <a:buFont typeface="Arial" panose="020B0604020202020204" pitchFamily="34" charset="0"/>
              <a:buNone/>
              <a:defRPr sz="1333" kern="1200">
                <a:solidFill>
                  <a:schemeClr val="tx1"/>
                </a:solidFill>
                <a:latin typeface="+mn-lt"/>
                <a:ea typeface="+mn-ea"/>
                <a:cs typeface="+mn-cs"/>
              </a:defRPr>
            </a:lvl2pPr>
            <a:lvl3pPr marL="1143000" lvl="2" indent="-228600" algn="l" defTabSz="914400" rtl="0" eaLnBrk="1" latinLnBrk="0" hangingPunct="1">
              <a:lnSpc>
                <a:spcPct val="100000"/>
              </a:lnSpc>
              <a:spcBef>
                <a:spcPts val="0"/>
              </a:spcBef>
              <a:spcAft>
                <a:spcPts val="0"/>
              </a:spcAft>
              <a:buSzPts val="1000"/>
              <a:buFont typeface="Arial" panose="020B0604020202020204" pitchFamily="34" charset="0"/>
              <a:buNone/>
              <a:defRPr sz="1333" kern="1200">
                <a:solidFill>
                  <a:schemeClr val="tx1"/>
                </a:solidFill>
                <a:latin typeface="+mn-lt"/>
                <a:ea typeface="+mn-ea"/>
                <a:cs typeface="+mn-cs"/>
              </a:defRPr>
            </a:lvl3pPr>
            <a:lvl4pPr marL="1600200" lvl="3" indent="-228600" algn="l" defTabSz="914400" rtl="0" eaLnBrk="1" latinLnBrk="0" hangingPunct="1">
              <a:lnSpc>
                <a:spcPct val="100000"/>
              </a:lnSpc>
              <a:spcBef>
                <a:spcPts val="0"/>
              </a:spcBef>
              <a:spcAft>
                <a:spcPts val="0"/>
              </a:spcAft>
              <a:buSzPts val="1000"/>
              <a:buFont typeface="Arial" panose="020B0604020202020204" pitchFamily="34" charset="0"/>
              <a:buNone/>
              <a:defRPr sz="1333" kern="1200">
                <a:solidFill>
                  <a:schemeClr val="tx1"/>
                </a:solidFill>
                <a:latin typeface="+mn-lt"/>
                <a:ea typeface="+mn-ea"/>
                <a:cs typeface="+mn-cs"/>
              </a:defRPr>
            </a:lvl4pPr>
            <a:lvl5pPr marL="2057400" lvl="4" indent="-228600" algn="l" defTabSz="914400" rtl="0" eaLnBrk="1" latinLnBrk="0" hangingPunct="1">
              <a:lnSpc>
                <a:spcPct val="100000"/>
              </a:lnSpc>
              <a:spcBef>
                <a:spcPts val="0"/>
              </a:spcBef>
              <a:spcAft>
                <a:spcPts val="0"/>
              </a:spcAft>
              <a:buSzPts val="1000"/>
              <a:buFont typeface="Arial" panose="020B0604020202020204" pitchFamily="34" charset="0"/>
              <a:buNone/>
              <a:defRPr sz="1333" kern="1200">
                <a:solidFill>
                  <a:schemeClr val="tx1"/>
                </a:solidFill>
                <a:latin typeface="+mn-lt"/>
                <a:ea typeface="+mn-ea"/>
                <a:cs typeface="+mn-cs"/>
              </a:defRPr>
            </a:lvl5pPr>
            <a:lvl6pPr marL="2514600" lvl="5" indent="-228600" algn="l" defTabSz="914400" rtl="0" eaLnBrk="1" latinLnBrk="0" hangingPunct="1">
              <a:lnSpc>
                <a:spcPct val="100000"/>
              </a:lnSpc>
              <a:spcBef>
                <a:spcPts val="0"/>
              </a:spcBef>
              <a:spcAft>
                <a:spcPts val="0"/>
              </a:spcAft>
              <a:buSzPts val="1000"/>
              <a:buFont typeface="Arial" panose="020B0604020202020204" pitchFamily="34" charset="0"/>
              <a:buNone/>
              <a:defRPr sz="1333" kern="1200">
                <a:solidFill>
                  <a:schemeClr val="tx1"/>
                </a:solidFill>
                <a:latin typeface="+mn-lt"/>
                <a:ea typeface="+mn-ea"/>
                <a:cs typeface="+mn-cs"/>
              </a:defRPr>
            </a:lvl6pPr>
            <a:lvl7pPr marL="2971800" lvl="6" indent="-228600" algn="l" defTabSz="914400" rtl="0" eaLnBrk="1" latinLnBrk="0" hangingPunct="1">
              <a:lnSpc>
                <a:spcPct val="100000"/>
              </a:lnSpc>
              <a:spcBef>
                <a:spcPts val="0"/>
              </a:spcBef>
              <a:spcAft>
                <a:spcPts val="0"/>
              </a:spcAft>
              <a:buSzPts val="1000"/>
              <a:buFont typeface="Arial" panose="020B0604020202020204" pitchFamily="34" charset="0"/>
              <a:buNone/>
              <a:defRPr sz="1333" kern="1200">
                <a:solidFill>
                  <a:schemeClr val="tx1"/>
                </a:solidFill>
                <a:latin typeface="+mn-lt"/>
                <a:ea typeface="+mn-ea"/>
                <a:cs typeface="+mn-cs"/>
              </a:defRPr>
            </a:lvl7pPr>
            <a:lvl8pPr marL="3429000" lvl="7" indent="-228600" algn="l" defTabSz="914400" rtl="0" eaLnBrk="1" latinLnBrk="0" hangingPunct="1">
              <a:lnSpc>
                <a:spcPct val="100000"/>
              </a:lnSpc>
              <a:spcBef>
                <a:spcPts val="0"/>
              </a:spcBef>
              <a:spcAft>
                <a:spcPts val="0"/>
              </a:spcAft>
              <a:buSzPts val="1000"/>
              <a:buFont typeface="Arial" panose="020B0604020202020204" pitchFamily="34" charset="0"/>
              <a:buNone/>
              <a:defRPr sz="1333" kern="1200">
                <a:solidFill>
                  <a:schemeClr val="tx1"/>
                </a:solidFill>
                <a:latin typeface="+mn-lt"/>
                <a:ea typeface="+mn-ea"/>
                <a:cs typeface="+mn-cs"/>
              </a:defRPr>
            </a:lvl8pPr>
            <a:lvl9pPr marL="3886200" lvl="8" indent="-228600" algn="l" defTabSz="914400" rtl="0" eaLnBrk="1" latinLnBrk="0" hangingPunct="1">
              <a:lnSpc>
                <a:spcPct val="100000"/>
              </a:lnSpc>
              <a:spcBef>
                <a:spcPts val="0"/>
              </a:spcBef>
              <a:spcAft>
                <a:spcPts val="0"/>
              </a:spcAft>
              <a:buSzPts val="1000"/>
              <a:buFont typeface="Arial" panose="020B0604020202020204" pitchFamily="34" charset="0"/>
              <a:buNone/>
              <a:defRPr sz="1333" kern="1200">
                <a:solidFill>
                  <a:schemeClr val="tx1"/>
                </a:solidFill>
                <a:latin typeface="+mn-lt"/>
                <a:ea typeface="+mn-ea"/>
                <a:cs typeface="+mn-cs"/>
              </a:defRPr>
            </a:lvl9pPr>
          </a:lstStyle>
          <a:p>
            <a:pPr marL="0" indent="0"/>
            <a:r>
              <a:rPr lang="en-US" dirty="0"/>
              <a:t>Interface between linear and radial components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1B335-FCF6-F9EA-32BA-6D0F719A5C71}"/>
              </a:ext>
            </a:extLst>
          </p:cNvPr>
          <p:cNvSpPr>
            <a:spLocks noGrp="1"/>
          </p:cNvSpPr>
          <p:nvPr>
            <p:ph type="title"/>
          </p:nvPr>
        </p:nvSpPr>
        <p:spPr>
          <a:xfrm>
            <a:off x="646112" y="452718"/>
            <a:ext cx="4165580" cy="1400530"/>
          </a:xfrm>
        </p:spPr>
        <p:txBody>
          <a:bodyPr>
            <a:normAutofit/>
          </a:bodyPr>
          <a:lstStyle/>
          <a:p>
            <a:r>
              <a:rPr lang="en-US"/>
              <a:t>Mold design</a:t>
            </a:r>
          </a:p>
        </p:txBody>
      </p:sp>
      <p:sp>
        <p:nvSpPr>
          <p:cNvPr id="16" name="Content Placeholder 15">
            <a:extLst>
              <a:ext uri="{FF2B5EF4-FFF2-40B4-BE49-F238E27FC236}">
                <a16:creationId xmlns:a16="http://schemas.microsoft.com/office/drawing/2014/main" id="{10C8C99C-D99D-DC40-46AD-62448B9FCC3C}"/>
              </a:ext>
            </a:extLst>
          </p:cNvPr>
          <p:cNvSpPr>
            <a:spLocks noGrp="1"/>
          </p:cNvSpPr>
          <p:nvPr>
            <p:ph idx="1"/>
          </p:nvPr>
        </p:nvSpPr>
        <p:spPr>
          <a:xfrm>
            <a:off x="646113" y="2052918"/>
            <a:ext cx="4165146" cy="4195481"/>
          </a:xfrm>
        </p:spPr>
        <p:txBody>
          <a:bodyPr>
            <a:normAutofit/>
          </a:bodyPr>
          <a:lstStyle/>
          <a:p>
            <a:pPr>
              <a:lnSpc>
                <a:spcPct val="90000"/>
              </a:lnSpc>
            </a:pPr>
            <a:r>
              <a:rPr lang="en-US" sz="1400" b="1"/>
              <a:t>Balloon Mold:</a:t>
            </a:r>
            <a:br>
              <a:rPr lang="en-US" sz="1400"/>
            </a:br>
            <a:r>
              <a:rPr lang="en-US" sz="1400"/>
              <a:t>Two-part cylindrical mold with a centered core to ensure 4 mm wall thickness and a 5 mm air channel. Mold halves were split for safe demolding.</a:t>
            </a:r>
          </a:p>
          <a:p>
            <a:pPr>
              <a:lnSpc>
                <a:spcPct val="90000"/>
              </a:lnSpc>
            </a:pPr>
            <a:endParaRPr lang="en-US" sz="1400"/>
          </a:p>
          <a:p>
            <a:pPr>
              <a:lnSpc>
                <a:spcPct val="90000"/>
              </a:lnSpc>
            </a:pPr>
            <a:r>
              <a:rPr lang="en-US" sz="1400" b="1"/>
              <a:t>Linear Actuator Mold:</a:t>
            </a:r>
            <a:br>
              <a:rPr lang="en-US" sz="1400"/>
            </a:br>
            <a:r>
              <a:rPr lang="en-US" sz="1400"/>
              <a:t>Rectangular two-piece mold created using cavity feature. Offset by 2 mm to define wall thickness, with pins and sockets for proper alignment.</a:t>
            </a:r>
          </a:p>
          <a:p>
            <a:pPr>
              <a:lnSpc>
                <a:spcPct val="90000"/>
              </a:lnSpc>
            </a:pPr>
            <a:endParaRPr lang="en-US" sz="1400"/>
          </a:p>
          <a:p>
            <a:pPr>
              <a:lnSpc>
                <a:spcPct val="90000"/>
              </a:lnSpc>
            </a:pPr>
            <a:r>
              <a:rPr lang="en-US" sz="1400" b="1"/>
              <a:t>Connector Mold:</a:t>
            </a:r>
            <a:br>
              <a:rPr lang="en-US" sz="1400"/>
            </a:br>
            <a:r>
              <a:rPr lang="en-US" sz="1400"/>
              <a:t>Based on two concentric circles, extruded and separated by a 4 mm lip. Includes a 5 mm internal air channel for integration.</a:t>
            </a:r>
          </a:p>
        </p:txBody>
      </p:sp>
      <p:pic>
        <p:nvPicPr>
          <p:cNvPr id="12" name="Content Placeholder 11" descr="A black object with a hole&#10;&#10;AI-generated content may be incorrect.">
            <a:extLst>
              <a:ext uri="{FF2B5EF4-FFF2-40B4-BE49-F238E27FC236}">
                <a16:creationId xmlns:a16="http://schemas.microsoft.com/office/drawing/2014/main" id="{A54A0025-DB49-434D-D964-27C1BD398F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4850" y="4085841"/>
            <a:ext cx="2086867" cy="2162557"/>
          </a:xfrm>
          <a:prstGeom prst="rect">
            <a:avLst/>
          </a:prstGeom>
          <a:effectLst/>
        </p:spPr>
      </p:pic>
      <p:grpSp>
        <p:nvGrpSpPr>
          <p:cNvPr id="4" name="Group 3">
            <a:extLst>
              <a:ext uri="{FF2B5EF4-FFF2-40B4-BE49-F238E27FC236}">
                <a16:creationId xmlns:a16="http://schemas.microsoft.com/office/drawing/2014/main" id="{31A9E5D8-26F2-AD59-6AD4-1A9A040755BB}"/>
              </a:ext>
            </a:extLst>
          </p:cNvPr>
          <p:cNvGrpSpPr/>
          <p:nvPr/>
        </p:nvGrpSpPr>
        <p:grpSpPr>
          <a:xfrm>
            <a:off x="8916129" y="4111801"/>
            <a:ext cx="2627752" cy="2110637"/>
            <a:chOff x="0" y="0"/>
            <a:chExt cx="3303905" cy="2865755"/>
          </a:xfrm>
        </p:grpSpPr>
        <p:pic>
          <p:nvPicPr>
            <p:cNvPr id="5" name="Picture 4" descr="A grey object with a circular object in the middle&#10;&#10;AI-generated content may be incorrect.">
              <a:extLst>
                <a:ext uri="{FF2B5EF4-FFF2-40B4-BE49-F238E27FC236}">
                  <a16:creationId xmlns:a16="http://schemas.microsoft.com/office/drawing/2014/main" id="{E25E1D74-0425-6216-FEDB-0CBB9D62330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19050"/>
              <a:ext cx="1521460" cy="2780665"/>
            </a:xfrm>
            <a:prstGeom prst="rect">
              <a:avLst/>
            </a:prstGeom>
          </p:spPr>
        </p:pic>
        <p:pic>
          <p:nvPicPr>
            <p:cNvPr id="6" name="Picture 5" descr="A grey rectangular object with a black background&#10;&#10;AI-generated content may be incorrect.">
              <a:extLst>
                <a:ext uri="{FF2B5EF4-FFF2-40B4-BE49-F238E27FC236}">
                  <a16:creationId xmlns:a16="http://schemas.microsoft.com/office/drawing/2014/main" id="{E929C5AE-7851-77B4-7C05-2C404BD5AE2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09750" y="0"/>
              <a:ext cx="1494155" cy="2865755"/>
            </a:xfrm>
            <a:prstGeom prst="rect">
              <a:avLst/>
            </a:prstGeom>
          </p:spPr>
        </p:pic>
      </p:grpSp>
      <p:grpSp>
        <p:nvGrpSpPr>
          <p:cNvPr id="7" name="Group 6">
            <a:extLst>
              <a:ext uri="{FF2B5EF4-FFF2-40B4-BE49-F238E27FC236}">
                <a16:creationId xmlns:a16="http://schemas.microsoft.com/office/drawing/2014/main" id="{1D2148DF-59F2-D810-1780-236DAC1060DA}"/>
              </a:ext>
            </a:extLst>
          </p:cNvPr>
          <p:cNvGrpSpPr/>
          <p:nvPr/>
        </p:nvGrpSpPr>
        <p:grpSpPr>
          <a:xfrm>
            <a:off x="6094410" y="1325360"/>
            <a:ext cx="5449472" cy="1886880"/>
            <a:chOff x="0" y="0"/>
            <a:chExt cx="6096000" cy="2110740"/>
          </a:xfrm>
        </p:grpSpPr>
        <p:pic>
          <p:nvPicPr>
            <p:cNvPr id="8" name="Picture 7" descr="A black and grey object&#10;&#10;AI-generated content may be incorrect.">
              <a:extLst>
                <a:ext uri="{FF2B5EF4-FFF2-40B4-BE49-F238E27FC236}">
                  <a16:creationId xmlns:a16="http://schemas.microsoft.com/office/drawing/2014/main" id="{79A55BE0-3DB3-F1CD-AB7A-03CFF937F9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47875" y="0"/>
              <a:ext cx="2143125" cy="2044065"/>
            </a:xfrm>
            <a:prstGeom prst="rect">
              <a:avLst/>
            </a:prstGeom>
          </p:spPr>
        </p:pic>
        <p:pic>
          <p:nvPicPr>
            <p:cNvPr id="9" name="Picture 8" descr="A black cylinder with rings&#10;&#10;AI-generated content may be incorrect.">
              <a:extLst>
                <a:ext uri="{FF2B5EF4-FFF2-40B4-BE49-F238E27FC236}">
                  <a16:creationId xmlns:a16="http://schemas.microsoft.com/office/drawing/2014/main" id="{E79E7885-A61A-162D-9A41-20B21B4FF62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0"/>
              <a:ext cx="2077085" cy="2034540"/>
            </a:xfrm>
            <a:prstGeom prst="rect">
              <a:avLst/>
            </a:prstGeom>
          </p:spPr>
        </p:pic>
        <p:pic>
          <p:nvPicPr>
            <p:cNvPr id="10" name="Picture 9" descr="A black and grey object&#10;&#10;AI-generated content may be incorrect.">
              <a:extLst>
                <a:ext uri="{FF2B5EF4-FFF2-40B4-BE49-F238E27FC236}">
                  <a16:creationId xmlns:a16="http://schemas.microsoft.com/office/drawing/2014/main" id="{81F5AD46-2F7B-F19E-267B-5C9BD1216C5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191000" y="0"/>
              <a:ext cx="1905000" cy="2110740"/>
            </a:xfrm>
            <a:prstGeom prst="rect">
              <a:avLst/>
            </a:prstGeom>
          </p:spPr>
        </p:pic>
      </p:grpSp>
    </p:spTree>
    <p:extLst>
      <p:ext uri="{BB962C8B-B14F-4D97-AF65-F5344CB8AC3E}">
        <p14:creationId xmlns:p14="http://schemas.microsoft.com/office/powerpoint/2010/main" val="588420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95930-9BCB-CA47-766B-B0C81057A566}"/>
              </a:ext>
            </a:extLst>
          </p:cNvPr>
          <p:cNvSpPr>
            <a:spLocks noGrp="1"/>
          </p:cNvSpPr>
          <p:nvPr>
            <p:ph type="title"/>
          </p:nvPr>
        </p:nvSpPr>
        <p:spPr>
          <a:xfrm>
            <a:off x="4872011" y="1447800"/>
            <a:ext cx="5108601" cy="3329581"/>
          </a:xfrm>
        </p:spPr>
        <p:txBody>
          <a:bodyPr vert="horz" lIns="91440" tIns="45720" rIns="91440" bIns="45720" rtlCol="0" anchor="b">
            <a:normAutofit/>
          </a:bodyPr>
          <a:lstStyle/>
          <a:p>
            <a:r>
              <a:rPr lang="en-US" sz="7200"/>
              <a:t>3D Printing</a:t>
            </a:r>
          </a:p>
        </p:txBody>
      </p:sp>
      <p:sp>
        <p:nvSpPr>
          <p:cNvPr id="3" name="Content Placeholder 2">
            <a:extLst>
              <a:ext uri="{FF2B5EF4-FFF2-40B4-BE49-F238E27FC236}">
                <a16:creationId xmlns:a16="http://schemas.microsoft.com/office/drawing/2014/main" id="{0A5EB408-9618-1C78-849E-C94E451A4CBE}"/>
              </a:ext>
            </a:extLst>
          </p:cNvPr>
          <p:cNvSpPr>
            <a:spLocks noGrp="1"/>
          </p:cNvSpPr>
          <p:nvPr>
            <p:ph idx="1"/>
          </p:nvPr>
        </p:nvSpPr>
        <p:spPr>
          <a:xfrm>
            <a:off x="4872011" y="4777380"/>
            <a:ext cx="5108601" cy="861420"/>
          </a:xfrm>
        </p:spPr>
        <p:txBody>
          <a:bodyPr vert="horz" lIns="91440" tIns="45720" rIns="91440" bIns="45720" rtlCol="0" anchor="t">
            <a:normAutofit/>
          </a:bodyPr>
          <a:lstStyle/>
          <a:p>
            <a:pPr marL="0" indent="0">
              <a:buNone/>
            </a:pPr>
            <a:r>
              <a:rPr lang="en-US" sz="1900" cap="all">
                <a:solidFill>
                  <a:schemeClr val="bg2">
                    <a:lumMod val="40000"/>
                    <a:lumOff val="60000"/>
                  </a:schemeClr>
                </a:solidFill>
              </a:rPr>
              <a:t>We used the printer X1 Carbon to print the parts with the fillet type PLA</a:t>
            </a:r>
          </a:p>
        </p:txBody>
      </p:sp>
      <p:pic>
        <p:nvPicPr>
          <p:cNvPr id="5" name="Picture 4" descr="A green triangle with black text&#10;&#10;AI-generated content may be incorrect.">
            <a:extLst>
              <a:ext uri="{FF2B5EF4-FFF2-40B4-BE49-F238E27FC236}">
                <a16:creationId xmlns:a16="http://schemas.microsoft.com/office/drawing/2014/main" id="{ADC2EC3E-26FE-6A21-CF3F-D6B49E24593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731" t="12500" r="6731" b="26603"/>
          <a:stretch/>
        </p:blipFill>
        <p:spPr bwMode="auto">
          <a:xfrm>
            <a:off x="661010" y="1447800"/>
            <a:ext cx="2909295" cy="2042159"/>
          </a:xfrm>
          <a:prstGeom prst="rect">
            <a:avLst/>
          </a:prstGeom>
          <a:effectLst/>
          <a:extLst>
            <a:ext uri="{53640926-AAD7-44D8-BBD7-CCE9431645EC}">
              <a14:shadowObscured xmlns:a14="http://schemas.microsoft.com/office/drawing/2010/main"/>
            </a:ext>
          </a:extLst>
        </p:spPr>
      </p:pic>
      <p:pic>
        <p:nvPicPr>
          <p:cNvPr id="4" name="Picture 3">
            <a:extLst>
              <a:ext uri="{FF2B5EF4-FFF2-40B4-BE49-F238E27FC236}">
                <a16:creationId xmlns:a16="http://schemas.microsoft.com/office/drawing/2014/main" id="{D228E25A-8E37-9826-9D7B-ADAC3CD70AF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661" t="22917" r="6249" b="7692"/>
          <a:stretch/>
        </p:blipFill>
        <p:spPr bwMode="auto">
          <a:xfrm>
            <a:off x="919439" y="3596640"/>
            <a:ext cx="2392438" cy="2042159"/>
          </a:xfrm>
          <a:prstGeom prst="rect">
            <a:avLst/>
          </a:prstGeom>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49325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02062-2BFD-6B0B-BD30-FC4DE0A9D789}"/>
              </a:ext>
            </a:extLst>
          </p:cNvPr>
          <p:cNvSpPr>
            <a:spLocks noGrp="1"/>
          </p:cNvSpPr>
          <p:nvPr>
            <p:ph type="title"/>
          </p:nvPr>
        </p:nvSpPr>
        <p:spPr>
          <a:xfrm>
            <a:off x="646112" y="452718"/>
            <a:ext cx="4165580" cy="1400530"/>
          </a:xfrm>
        </p:spPr>
        <p:txBody>
          <a:bodyPr>
            <a:normAutofit/>
          </a:bodyPr>
          <a:lstStyle/>
          <a:p>
            <a:r>
              <a:rPr lang="en-US"/>
              <a:t>3D preparation</a:t>
            </a:r>
          </a:p>
        </p:txBody>
      </p:sp>
      <p:sp>
        <p:nvSpPr>
          <p:cNvPr id="3" name="Content Placeholder 2">
            <a:extLst>
              <a:ext uri="{FF2B5EF4-FFF2-40B4-BE49-F238E27FC236}">
                <a16:creationId xmlns:a16="http://schemas.microsoft.com/office/drawing/2014/main" id="{BE046A00-7360-A0C3-E282-CF3745A6ABCB}"/>
              </a:ext>
            </a:extLst>
          </p:cNvPr>
          <p:cNvSpPr>
            <a:spLocks noGrp="1"/>
          </p:cNvSpPr>
          <p:nvPr>
            <p:ph idx="1"/>
          </p:nvPr>
        </p:nvSpPr>
        <p:spPr>
          <a:xfrm>
            <a:off x="646113" y="2052918"/>
            <a:ext cx="4165146" cy="4195481"/>
          </a:xfrm>
        </p:spPr>
        <p:txBody>
          <a:bodyPr>
            <a:normAutofit/>
          </a:bodyPr>
          <a:lstStyle/>
          <a:p>
            <a:r>
              <a:rPr lang="en-US"/>
              <a:t>Some of the printing images show the support according to the print shape.</a:t>
            </a:r>
          </a:p>
        </p:txBody>
      </p:sp>
      <p:pic>
        <p:nvPicPr>
          <p:cNvPr id="15" name="Picture 14" descr="A screenshot of a computer&#10;&#10;AI-generated content may be incorrect.">
            <a:extLst>
              <a:ext uri="{FF2B5EF4-FFF2-40B4-BE49-F238E27FC236}">
                <a16:creationId xmlns:a16="http://schemas.microsoft.com/office/drawing/2014/main" id="{D76AE2B3-3D34-6630-0983-1451BADA0A4D}"/>
              </a:ext>
            </a:extLst>
          </p:cNvPr>
          <p:cNvPicPr>
            <a:picLocks noChangeAspect="1"/>
          </p:cNvPicPr>
          <p:nvPr/>
        </p:nvPicPr>
        <p:blipFill>
          <a:blip r:embed="rId3" cstate="print">
            <a:extLst>
              <a:ext uri="{28A0092B-C50C-407E-A947-70E740481C1C}">
                <a14:useLocalDpi xmlns:a14="http://schemas.microsoft.com/office/drawing/2010/main" val="0"/>
              </a:ext>
            </a:extLst>
          </a:blip>
          <a:srcRect l="1199" r="12876" b="1"/>
          <a:stretch>
            <a:fillRect/>
          </a:stretch>
        </p:blipFill>
        <p:spPr>
          <a:xfrm>
            <a:off x="6215509" y="647699"/>
            <a:ext cx="5207273" cy="3242202"/>
          </a:xfrm>
          <a:prstGeom prst="rect">
            <a:avLst/>
          </a:prstGeom>
          <a:effectLst/>
        </p:spPr>
      </p:pic>
      <p:pic>
        <p:nvPicPr>
          <p:cNvPr id="16" name="Picture 15" descr="A screenshot of a video game&#10;&#10;AI-generated content may be incorrect.">
            <a:extLst>
              <a:ext uri="{FF2B5EF4-FFF2-40B4-BE49-F238E27FC236}">
                <a16:creationId xmlns:a16="http://schemas.microsoft.com/office/drawing/2014/main" id="{D38CAA5C-B674-DAE5-D871-F5C282BF8A8E}"/>
              </a:ext>
            </a:extLst>
          </p:cNvPr>
          <p:cNvPicPr>
            <a:picLocks noChangeAspect="1"/>
          </p:cNvPicPr>
          <p:nvPr/>
        </p:nvPicPr>
        <p:blipFill>
          <a:blip r:embed="rId4" cstate="print">
            <a:extLst>
              <a:ext uri="{28A0092B-C50C-407E-A947-70E740481C1C}">
                <a14:useLocalDpi xmlns:a14="http://schemas.microsoft.com/office/drawing/2010/main" val="0"/>
              </a:ext>
            </a:extLst>
          </a:blip>
          <a:srcRect l="8276" r="15303" b="-1"/>
          <a:stretch>
            <a:fillRect/>
          </a:stretch>
        </p:blipFill>
        <p:spPr>
          <a:xfrm>
            <a:off x="6094408" y="4243010"/>
            <a:ext cx="2627752" cy="1848219"/>
          </a:xfrm>
          <a:prstGeom prst="rect">
            <a:avLst/>
          </a:prstGeom>
          <a:effectLst/>
        </p:spPr>
      </p:pic>
      <p:pic>
        <p:nvPicPr>
          <p:cNvPr id="14" name="Picture 13" descr="A computer screen shot of a video game&#10;&#10;AI-generated content may be incorrect.">
            <a:extLst>
              <a:ext uri="{FF2B5EF4-FFF2-40B4-BE49-F238E27FC236}">
                <a16:creationId xmlns:a16="http://schemas.microsoft.com/office/drawing/2014/main" id="{3114BEAC-D27B-D92F-E986-F29F76053005}"/>
              </a:ext>
            </a:extLst>
          </p:cNvPr>
          <p:cNvPicPr>
            <a:picLocks noChangeAspect="1"/>
          </p:cNvPicPr>
          <p:nvPr/>
        </p:nvPicPr>
        <p:blipFill>
          <a:blip r:embed="rId5" cstate="print">
            <a:extLst>
              <a:ext uri="{28A0092B-C50C-407E-A947-70E740481C1C}">
                <a14:useLocalDpi xmlns:a14="http://schemas.microsoft.com/office/drawing/2010/main" val="0"/>
              </a:ext>
            </a:extLst>
          </a:blip>
          <a:srcRect l="6514" r="17422"/>
          <a:stretch>
            <a:fillRect/>
          </a:stretch>
        </p:blipFill>
        <p:spPr>
          <a:xfrm>
            <a:off x="8916129" y="4242998"/>
            <a:ext cx="2627752" cy="1848242"/>
          </a:xfrm>
          <a:prstGeom prst="rect">
            <a:avLst/>
          </a:prstGeom>
          <a:effectLst/>
        </p:spPr>
      </p:pic>
    </p:spTree>
    <p:extLst>
      <p:ext uri="{BB962C8B-B14F-4D97-AF65-F5344CB8AC3E}">
        <p14:creationId xmlns:p14="http://schemas.microsoft.com/office/powerpoint/2010/main" val="3576290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5" name="Picture 3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7" name="Oval 3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9" name="Picture 3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41" name="Picture 4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43" name="Rectangle 4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660D0E2-BE22-35B8-5CCB-83659B43B8C9}"/>
              </a:ext>
            </a:extLst>
          </p:cNvPr>
          <p:cNvSpPr>
            <a:spLocks noGrp="1"/>
          </p:cNvSpPr>
          <p:nvPr>
            <p:ph type="title"/>
          </p:nvPr>
        </p:nvSpPr>
        <p:spPr>
          <a:xfrm>
            <a:off x="8210623" y="1447800"/>
            <a:ext cx="3333676" cy="3096987"/>
          </a:xfrm>
        </p:spPr>
        <p:txBody>
          <a:bodyPr vert="horz" lIns="91440" tIns="45720" rIns="91440" bIns="45720" rtlCol="0" anchor="b">
            <a:normAutofit/>
          </a:bodyPr>
          <a:lstStyle/>
          <a:p>
            <a:pPr>
              <a:lnSpc>
                <a:spcPct val="90000"/>
              </a:lnSpc>
            </a:pPr>
            <a:r>
              <a:rPr lang="en-US" sz="5000"/>
              <a:t>Balloon Simulation &amp; Results</a:t>
            </a:r>
          </a:p>
        </p:txBody>
      </p:sp>
      <p:sp>
        <p:nvSpPr>
          <p:cNvPr id="45" name="Freeform: Shape 44">
            <a:extLst>
              <a:ext uri="{FF2B5EF4-FFF2-40B4-BE49-F238E27FC236}">
                <a16:creationId xmlns:a16="http://schemas.microsoft.com/office/drawing/2014/main" id="{3484F10F-334C-431A-8E30-B66B496C5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475977" y="-475977"/>
            <a:ext cx="6858000" cy="7809953"/>
          </a:xfrm>
          <a:custGeom>
            <a:avLst/>
            <a:gdLst>
              <a:gd name="connsiteX0" fmla="*/ 6858000 w 6858000"/>
              <a:gd name="connsiteY0" fmla="*/ 1344715 h 7809953"/>
              <a:gd name="connsiteX1" fmla="*/ 6858000 w 6858000"/>
              <a:gd name="connsiteY1" fmla="*/ 1177 h 7809953"/>
              <a:gd name="connsiteX2" fmla="*/ 6702323 w 6858000"/>
              <a:gd name="connsiteY2" fmla="*/ 26222 h 7809953"/>
              <a:gd name="connsiteX3" fmla="*/ 6547332 w 6858000"/>
              <a:gd name="connsiteY3" fmla="*/ 50091 h 7809953"/>
              <a:gd name="connsiteX4" fmla="*/ 6391656 w 6858000"/>
              <a:gd name="connsiteY4" fmla="*/ 73455 h 7809953"/>
              <a:gd name="connsiteX5" fmla="*/ 6235293 w 6858000"/>
              <a:gd name="connsiteY5" fmla="*/ 93458 h 7809953"/>
              <a:gd name="connsiteX6" fmla="*/ 6079617 w 6858000"/>
              <a:gd name="connsiteY6" fmla="*/ 113629 h 7809953"/>
              <a:gd name="connsiteX7" fmla="*/ 5923254 w 6858000"/>
              <a:gd name="connsiteY7" fmla="*/ 132455 h 7809953"/>
              <a:gd name="connsiteX8" fmla="*/ 5768949 w 6858000"/>
              <a:gd name="connsiteY8" fmla="*/ 148591 h 7809953"/>
              <a:gd name="connsiteX9" fmla="*/ 5612587 w 6858000"/>
              <a:gd name="connsiteY9" fmla="*/ 163887 h 7809953"/>
              <a:gd name="connsiteX10" fmla="*/ 5456910 w 6858000"/>
              <a:gd name="connsiteY10" fmla="*/ 177839 h 7809953"/>
              <a:gd name="connsiteX11" fmla="*/ 5303977 w 6858000"/>
              <a:gd name="connsiteY11" fmla="*/ 189941 h 7809953"/>
              <a:gd name="connsiteX12" fmla="*/ 5148986 w 6858000"/>
              <a:gd name="connsiteY12" fmla="*/ 202044 h 7809953"/>
              <a:gd name="connsiteX13" fmla="*/ 4996053 w 6858000"/>
              <a:gd name="connsiteY13" fmla="*/ 212129 h 7809953"/>
              <a:gd name="connsiteX14" fmla="*/ 4843119 w 6858000"/>
              <a:gd name="connsiteY14" fmla="*/ 220029 h 7809953"/>
              <a:gd name="connsiteX15" fmla="*/ 4690872 w 6858000"/>
              <a:gd name="connsiteY15" fmla="*/ 228266 h 7809953"/>
              <a:gd name="connsiteX16" fmla="*/ 4539996 w 6858000"/>
              <a:gd name="connsiteY16" fmla="*/ 235157 h 7809953"/>
              <a:gd name="connsiteX17" fmla="*/ 4390491 w 6858000"/>
              <a:gd name="connsiteY17" fmla="*/ 240032 h 7809953"/>
              <a:gd name="connsiteX18" fmla="*/ 4240987 w 6858000"/>
              <a:gd name="connsiteY18" fmla="*/ 244234 h 7809953"/>
              <a:gd name="connsiteX19" fmla="*/ 4092855 w 6858000"/>
              <a:gd name="connsiteY19" fmla="*/ 248268 h 7809953"/>
              <a:gd name="connsiteX20" fmla="*/ 3946779 w 6858000"/>
              <a:gd name="connsiteY20" fmla="*/ 250117 h 7809953"/>
              <a:gd name="connsiteX21" fmla="*/ 3800704 w 6858000"/>
              <a:gd name="connsiteY21" fmla="*/ 252134 h 7809953"/>
              <a:gd name="connsiteX22" fmla="*/ 3656685 w 6858000"/>
              <a:gd name="connsiteY22" fmla="*/ 253143 h 7809953"/>
              <a:gd name="connsiteX23" fmla="*/ 3514039 w 6858000"/>
              <a:gd name="connsiteY23" fmla="*/ 252134 h 7809953"/>
              <a:gd name="connsiteX24" fmla="*/ 3372765 w 6858000"/>
              <a:gd name="connsiteY24" fmla="*/ 252134 h 7809953"/>
              <a:gd name="connsiteX25" fmla="*/ 3232861 w 6858000"/>
              <a:gd name="connsiteY25" fmla="*/ 250117 h 7809953"/>
              <a:gd name="connsiteX26" fmla="*/ 3095701 w 6858000"/>
              <a:gd name="connsiteY26" fmla="*/ 247092 h 7809953"/>
              <a:gd name="connsiteX27" fmla="*/ 2959913 w 6858000"/>
              <a:gd name="connsiteY27" fmla="*/ 244234 h 7809953"/>
              <a:gd name="connsiteX28" fmla="*/ 2826868 w 6858000"/>
              <a:gd name="connsiteY28" fmla="*/ 241040 h 7809953"/>
              <a:gd name="connsiteX29" fmla="*/ 2694508 w 6858000"/>
              <a:gd name="connsiteY29" fmla="*/ 236166 h 7809953"/>
              <a:gd name="connsiteX30" fmla="*/ 2564207 w 6858000"/>
              <a:gd name="connsiteY30" fmla="*/ 230955 h 7809953"/>
              <a:gd name="connsiteX31" fmla="*/ 2436648 w 6858000"/>
              <a:gd name="connsiteY31" fmla="*/ 226249 h 7809953"/>
              <a:gd name="connsiteX32" fmla="*/ 2187702 w 6858000"/>
              <a:gd name="connsiteY32" fmla="*/ 212969 h 7809953"/>
              <a:gd name="connsiteX33" fmla="*/ 1949044 w 6858000"/>
              <a:gd name="connsiteY33" fmla="*/ 198850 h 7809953"/>
              <a:gd name="connsiteX34" fmla="*/ 1719987 w 6858000"/>
              <a:gd name="connsiteY34" fmla="*/ 184058 h 7809953"/>
              <a:gd name="connsiteX35" fmla="*/ 1503274 w 6858000"/>
              <a:gd name="connsiteY35" fmla="*/ 167753 h 7809953"/>
              <a:gd name="connsiteX36" fmla="*/ 1296162 w 6858000"/>
              <a:gd name="connsiteY36" fmla="*/ 150776 h 7809953"/>
              <a:gd name="connsiteX37" fmla="*/ 1104138 w 6858000"/>
              <a:gd name="connsiteY37" fmla="*/ 132455 h 7809953"/>
              <a:gd name="connsiteX38" fmla="*/ 923773 w 6858000"/>
              <a:gd name="connsiteY38" fmla="*/ 114469 h 7809953"/>
              <a:gd name="connsiteX39" fmla="*/ 757809 w 6858000"/>
              <a:gd name="connsiteY39" fmla="*/ 96484 h 7809953"/>
              <a:gd name="connsiteX40" fmla="*/ 605562 w 6858000"/>
              <a:gd name="connsiteY40" fmla="*/ 79507 h 7809953"/>
              <a:gd name="connsiteX41" fmla="*/ 470459 w 6858000"/>
              <a:gd name="connsiteY41" fmla="*/ 63370 h 7809953"/>
              <a:gd name="connsiteX42" fmla="*/ 348387 w 6858000"/>
              <a:gd name="connsiteY42" fmla="*/ 48074 h 7809953"/>
              <a:gd name="connsiteX43" fmla="*/ 245517 w 6858000"/>
              <a:gd name="connsiteY43" fmla="*/ 35299 h 7809953"/>
              <a:gd name="connsiteX44" fmla="*/ 159106 w 6858000"/>
              <a:gd name="connsiteY44" fmla="*/ 23197 h 7809953"/>
              <a:gd name="connsiteX45" fmla="*/ 40462 w 6858000"/>
              <a:gd name="connsiteY45" fmla="*/ 5883 h 7809953"/>
              <a:gd name="connsiteX46" fmla="*/ 0 w 6858000"/>
              <a:gd name="connsiteY46" fmla="*/ 0 h 7809953"/>
              <a:gd name="connsiteX47" fmla="*/ 0 w 6858000"/>
              <a:gd name="connsiteY47" fmla="*/ 652830 h 7809953"/>
              <a:gd name="connsiteX48" fmla="*/ 0 w 6858000"/>
              <a:gd name="connsiteY48" fmla="*/ 652830 h 7809953"/>
              <a:gd name="connsiteX49" fmla="*/ 0 w 6858000"/>
              <a:gd name="connsiteY49" fmla="*/ 7809953 h 7809953"/>
              <a:gd name="connsiteX50" fmla="*/ 6857999 w 6858000"/>
              <a:gd name="connsiteY50" fmla="*/ 7809953 h 7809953"/>
              <a:gd name="connsiteX51" fmla="*/ 6857999 w 6858000"/>
              <a:gd name="connsiteY51" fmla="*/ 1344715 h 7809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0" h="7809953">
                <a:moveTo>
                  <a:pt x="6858000" y="1344715"/>
                </a:moveTo>
                <a:lnTo>
                  <a:pt x="6858000" y="1177"/>
                </a:lnTo>
                <a:lnTo>
                  <a:pt x="6702323" y="26222"/>
                </a:lnTo>
                <a:lnTo>
                  <a:pt x="6547332" y="50091"/>
                </a:lnTo>
                <a:lnTo>
                  <a:pt x="6391656" y="73455"/>
                </a:lnTo>
                <a:lnTo>
                  <a:pt x="6235293" y="93458"/>
                </a:lnTo>
                <a:lnTo>
                  <a:pt x="6079617" y="113629"/>
                </a:lnTo>
                <a:lnTo>
                  <a:pt x="5923254" y="132455"/>
                </a:lnTo>
                <a:lnTo>
                  <a:pt x="5768949" y="148591"/>
                </a:lnTo>
                <a:lnTo>
                  <a:pt x="5612587" y="163887"/>
                </a:lnTo>
                <a:lnTo>
                  <a:pt x="5456910" y="177839"/>
                </a:lnTo>
                <a:lnTo>
                  <a:pt x="5303977" y="189941"/>
                </a:lnTo>
                <a:lnTo>
                  <a:pt x="5148986" y="202044"/>
                </a:lnTo>
                <a:lnTo>
                  <a:pt x="4996053" y="212129"/>
                </a:lnTo>
                <a:lnTo>
                  <a:pt x="4843119" y="220029"/>
                </a:lnTo>
                <a:lnTo>
                  <a:pt x="4690872" y="228266"/>
                </a:lnTo>
                <a:lnTo>
                  <a:pt x="4539996" y="235157"/>
                </a:lnTo>
                <a:lnTo>
                  <a:pt x="4390491" y="240032"/>
                </a:lnTo>
                <a:lnTo>
                  <a:pt x="4240987" y="244234"/>
                </a:lnTo>
                <a:lnTo>
                  <a:pt x="4092855" y="248268"/>
                </a:lnTo>
                <a:lnTo>
                  <a:pt x="3946779" y="250117"/>
                </a:lnTo>
                <a:lnTo>
                  <a:pt x="3800704" y="252134"/>
                </a:lnTo>
                <a:lnTo>
                  <a:pt x="3656685" y="253143"/>
                </a:lnTo>
                <a:lnTo>
                  <a:pt x="3514039" y="252134"/>
                </a:lnTo>
                <a:lnTo>
                  <a:pt x="3372765" y="252134"/>
                </a:lnTo>
                <a:lnTo>
                  <a:pt x="3232861" y="250117"/>
                </a:lnTo>
                <a:lnTo>
                  <a:pt x="3095701" y="247092"/>
                </a:lnTo>
                <a:lnTo>
                  <a:pt x="2959913" y="244234"/>
                </a:lnTo>
                <a:lnTo>
                  <a:pt x="2826868" y="241040"/>
                </a:lnTo>
                <a:lnTo>
                  <a:pt x="2694508" y="236166"/>
                </a:lnTo>
                <a:lnTo>
                  <a:pt x="2564207" y="230955"/>
                </a:lnTo>
                <a:lnTo>
                  <a:pt x="2436648" y="226249"/>
                </a:lnTo>
                <a:lnTo>
                  <a:pt x="2187702" y="212969"/>
                </a:lnTo>
                <a:lnTo>
                  <a:pt x="1949044" y="198850"/>
                </a:lnTo>
                <a:lnTo>
                  <a:pt x="1719987" y="184058"/>
                </a:lnTo>
                <a:lnTo>
                  <a:pt x="1503274" y="167753"/>
                </a:lnTo>
                <a:lnTo>
                  <a:pt x="1296162" y="150776"/>
                </a:lnTo>
                <a:lnTo>
                  <a:pt x="1104138" y="132455"/>
                </a:lnTo>
                <a:lnTo>
                  <a:pt x="923773" y="114469"/>
                </a:lnTo>
                <a:lnTo>
                  <a:pt x="757809" y="96484"/>
                </a:lnTo>
                <a:lnTo>
                  <a:pt x="605562" y="79507"/>
                </a:lnTo>
                <a:lnTo>
                  <a:pt x="470459" y="63370"/>
                </a:lnTo>
                <a:lnTo>
                  <a:pt x="348387" y="48074"/>
                </a:lnTo>
                <a:lnTo>
                  <a:pt x="245517" y="35299"/>
                </a:lnTo>
                <a:lnTo>
                  <a:pt x="159106" y="23197"/>
                </a:lnTo>
                <a:lnTo>
                  <a:pt x="40462" y="5883"/>
                </a:lnTo>
                <a:lnTo>
                  <a:pt x="0" y="0"/>
                </a:lnTo>
                <a:lnTo>
                  <a:pt x="0" y="652830"/>
                </a:lnTo>
                <a:lnTo>
                  <a:pt x="0" y="652830"/>
                </a:lnTo>
                <a:lnTo>
                  <a:pt x="0" y="7809953"/>
                </a:lnTo>
                <a:lnTo>
                  <a:pt x="6857999" y="7809953"/>
                </a:lnTo>
                <a:lnTo>
                  <a:pt x="6857999" y="1344715"/>
                </a:lnTo>
                <a:close/>
              </a:path>
            </a:pathLst>
          </a:custGeom>
          <a:solidFill>
            <a:srgbClr val="FFFFFF"/>
          </a:solidFill>
          <a:ln>
            <a:noFill/>
          </a:ln>
        </p:spPr>
        <p:txBody>
          <a:bodyPr/>
          <a:lstStyle/>
          <a:p>
            <a:endParaRPr lang="en-US"/>
          </a:p>
        </p:txBody>
      </p:sp>
      <p:pic>
        <p:nvPicPr>
          <p:cNvPr id="9" name="Picture 8" descr="A computer screen shot of a colorful sphere&#10;&#10;AI-generated content may be incorrect.">
            <a:extLst>
              <a:ext uri="{FF2B5EF4-FFF2-40B4-BE49-F238E27FC236}">
                <a16:creationId xmlns:a16="http://schemas.microsoft.com/office/drawing/2014/main" id="{1B29F3A9-80EF-5030-327A-F73E4C4F6BF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5692" y="647699"/>
            <a:ext cx="5686985" cy="2658666"/>
          </a:xfrm>
          <a:prstGeom prst="rect">
            <a:avLst/>
          </a:prstGeom>
          <a:effectLst/>
        </p:spPr>
      </p:pic>
      <p:sp>
        <p:nvSpPr>
          <p:cNvPr id="47" name="Freeform 31">
            <a:extLst>
              <a:ext uri="{FF2B5EF4-FFF2-40B4-BE49-F238E27FC236}">
                <a16:creationId xmlns:a16="http://schemas.microsoft.com/office/drawing/2014/main" id="{AEA0BB24-2B23-4B19-996F-58DA607EE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463681"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28" name="Picture 27">
            <a:extLst>
              <a:ext uri="{FF2B5EF4-FFF2-40B4-BE49-F238E27FC236}">
                <a16:creationId xmlns:a16="http://schemas.microsoft.com/office/drawing/2014/main" id="{17D652AD-A2E4-F86C-C9A7-85F26AE288CC}"/>
              </a:ext>
            </a:extLst>
          </p:cNvPr>
          <p:cNvPicPr>
            <a:picLocks noChangeAspect="1"/>
          </p:cNvPicPr>
          <p:nvPr/>
        </p:nvPicPr>
        <p:blipFill>
          <a:blip r:embed="rId8"/>
          <a:stretch>
            <a:fillRect/>
          </a:stretch>
        </p:blipFill>
        <p:spPr>
          <a:xfrm>
            <a:off x="643854" y="4029180"/>
            <a:ext cx="6270662" cy="1603026"/>
          </a:xfrm>
          <a:prstGeom prst="rect">
            <a:avLst/>
          </a:prstGeom>
          <a:effectLst/>
        </p:spPr>
      </p:pic>
      <p:sp>
        <p:nvSpPr>
          <p:cNvPr id="10" name="Title 1">
            <a:extLst>
              <a:ext uri="{FF2B5EF4-FFF2-40B4-BE49-F238E27FC236}">
                <a16:creationId xmlns:a16="http://schemas.microsoft.com/office/drawing/2014/main" id="{B4692DF4-FA50-4F5D-17E3-50A712279672}"/>
              </a:ext>
            </a:extLst>
          </p:cNvPr>
          <p:cNvSpPr txBox="1">
            <a:spLocks/>
          </p:cNvSpPr>
          <p:nvPr/>
        </p:nvSpPr>
        <p:spPr>
          <a:xfrm>
            <a:off x="1365017" y="242356"/>
            <a:ext cx="4900143" cy="170984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1000"/>
              </a:spcBef>
            </a:pPr>
            <a:r>
              <a:rPr lang="en-US" sz="2000" b="1" dirty="0">
                <a:latin typeface="+mn-lt"/>
                <a:ea typeface="+mn-ea"/>
                <a:cs typeface="+mn-cs"/>
              </a:rPr>
              <a:t>Elastic Strain</a:t>
            </a:r>
            <a:endParaRPr lang="en-US" sz="2000" dirty="0">
              <a:latin typeface="+mn-lt"/>
              <a:ea typeface="+mn-ea"/>
              <a:cs typeface="+mn-cs"/>
            </a:endParaRPr>
          </a:p>
        </p:txBody>
      </p:sp>
    </p:spTree>
    <p:extLst>
      <p:ext uri="{BB962C8B-B14F-4D97-AF65-F5344CB8AC3E}">
        <p14:creationId xmlns:p14="http://schemas.microsoft.com/office/powerpoint/2010/main" val="3855674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4D472-B92F-A5D2-523F-4D50074D66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E66FC-186E-CF6F-B9AB-65A75BD7BF88}"/>
              </a:ext>
            </a:extLst>
          </p:cNvPr>
          <p:cNvSpPr>
            <a:spLocks noGrp="1"/>
          </p:cNvSpPr>
          <p:nvPr>
            <p:ph type="title"/>
          </p:nvPr>
        </p:nvSpPr>
        <p:spPr>
          <a:xfrm>
            <a:off x="8210623" y="1447800"/>
            <a:ext cx="3333676" cy="3096987"/>
          </a:xfrm>
        </p:spPr>
        <p:txBody>
          <a:bodyPr vert="horz" lIns="91440" tIns="45720" rIns="91440" bIns="45720" rtlCol="0" anchor="b">
            <a:normAutofit/>
          </a:bodyPr>
          <a:lstStyle/>
          <a:p>
            <a:pPr>
              <a:lnSpc>
                <a:spcPct val="90000"/>
              </a:lnSpc>
            </a:pPr>
            <a:r>
              <a:rPr lang="en-US" sz="5400" b="1" dirty="0"/>
              <a:t>Balloon Simulation &amp; Results</a:t>
            </a:r>
            <a:endParaRPr lang="en-US" sz="5000" dirty="0"/>
          </a:p>
        </p:txBody>
      </p:sp>
      <p:pic>
        <p:nvPicPr>
          <p:cNvPr id="3" name="Picture 2">
            <a:extLst>
              <a:ext uri="{FF2B5EF4-FFF2-40B4-BE49-F238E27FC236}">
                <a16:creationId xmlns:a16="http://schemas.microsoft.com/office/drawing/2014/main" id="{7077B9F1-3C9B-A948-FB59-598E518EFDBD}"/>
              </a:ext>
            </a:extLst>
          </p:cNvPr>
          <p:cNvPicPr>
            <a:picLocks noChangeAspect="1"/>
          </p:cNvPicPr>
          <p:nvPr/>
        </p:nvPicPr>
        <p:blipFill>
          <a:blip r:embed="rId2">
            <a:extLst>
              <a:ext uri="{28A0092B-C50C-407E-A947-70E740481C1C}">
                <a14:useLocalDpi xmlns:a14="http://schemas.microsoft.com/office/drawing/2010/main" val="0"/>
              </a:ext>
            </a:extLst>
          </a:blip>
          <a:stretch/>
        </p:blipFill>
        <p:spPr>
          <a:xfrm>
            <a:off x="924781" y="869464"/>
            <a:ext cx="5093140" cy="2368309"/>
          </a:xfrm>
          <a:prstGeom prst="rect">
            <a:avLst/>
          </a:prstGeom>
        </p:spPr>
      </p:pic>
      <p:graphicFrame>
        <p:nvGraphicFramePr>
          <p:cNvPr id="4" name="Content Placeholder 5">
            <a:extLst>
              <a:ext uri="{FF2B5EF4-FFF2-40B4-BE49-F238E27FC236}">
                <a16:creationId xmlns:a16="http://schemas.microsoft.com/office/drawing/2014/main" id="{2076B0CB-AF8E-FB6E-8BBA-5BC6E025CB73}"/>
              </a:ext>
            </a:extLst>
          </p:cNvPr>
          <p:cNvGraphicFramePr>
            <a:graphicFrameLocks noGrp="1"/>
          </p:cNvGraphicFramePr>
          <p:nvPr>
            <p:ph idx="1"/>
            <p:extLst>
              <p:ext uri="{D42A27DB-BD31-4B8C-83A1-F6EECF244321}">
                <p14:modId xmlns:p14="http://schemas.microsoft.com/office/powerpoint/2010/main" val="3777067176"/>
              </p:ext>
            </p:extLst>
          </p:nvPr>
        </p:nvGraphicFramePr>
        <p:xfrm>
          <a:off x="1270314" y="3429000"/>
          <a:ext cx="5093141" cy="2933032"/>
        </p:xfrm>
        <a:graphic>
          <a:graphicData uri="http://schemas.openxmlformats.org/drawingml/2006/table">
            <a:tbl>
              <a:tblPr>
                <a:tableStyleId>{5940675A-B579-460E-94D1-54222C63F5DA}</a:tableStyleId>
              </a:tblPr>
              <a:tblGrid>
                <a:gridCol w="1729037">
                  <a:extLst>
                    <a:ext uri="{9D8B030D-6E8A-4147-A177-3AD203B41FA5}">
                      <a16:colId xmlns:a16="http://schemas.microsoft.com/office/drawing/2014/main" val="1082511720"/>
                    </a:ext>
                  </a:extLst>
                </a:gridCol>
                <a:gridCol w="1555935">
                  <a:extLst>
                    <a:ext uri="{9D8B030D-6E8A-4147-A177-3AD203B41FA5}">
                      <a16:colId xmlns:a16="http://schemas.microsoft.com/office/drawing/2014/main" val="2477201701"/>
                    </a:ext>
                  </a:extLst>
                </a:gridCol>
                <a:gridCol w="1808169">
                  <a:extLst>
                    <a:ext uri="{9D8B030D-6E8A-4147-A177-3AD203B41FA5}">
                      <a16:colId xmlns:a16="http://schemas.microsoft.com/office/drawing/2014/main" val="3418119780"/>
                    </a:ext>
                  </a:extLst>
                </a:gridCol>
              </a:tblGrid>
              <a:tr h="527020">
                <a:tc>
                  <a:txBody>
                    <a:bodyPr/>
                    <a:lstStyle/>
                    <a:p>
                      <a:r>
                        <a:rPr lang="en-US" sz="1400" b="1"/>
                        <a:t>Boundary Region</a:t>
                      </a:r>
                      <a:endParaRPr lang="en-US" sz="1400"/>
                    </a:p>
                  </a:txBody>
                  <a:tcPr marL="71219" marR="71219" marT="35609" marB="35609" anchor="ctr"/>
                </a:tc>
                <a:tc>
                  <a:txBody>
                    <a:bodyPr/>
                    <a:lstStyle/>
                    <a:p>
                      <a:r>
                        <a:rPr lang="en-US" sz="1400" b="1"/>
                        <a:t>Stress Value (MPa)</a:t>
                      </a:r>
                      <a:endParaRPr lang="en-US" sz="1400"/>
                    </a:p>
                  </a:txBody>
                  <a:tcPr marL="71219" marR="71219" marT="35609" marB="35609" anchor="ctr"/>
                </a:tc>
                <a:tc>
                  <a:txBody>
                    <a:bodyPr/>
                    <a:lstStyle/>
                    <a:p>
                      <a:r>
                        <a:rPr lang="en-US" sz="1400" b="1"/>
                        <a:t>Description</a:t>
                      </a:r>
                      <a:endParaRPr lang="en-US" sz="1400"/>
                    </a:p>
                  </a:txBody>
                  <a:tcPr marL="71219" marR="71219" marT="35609" marB="35609" anchor="ctr"/>
                </a:tc>
                <a:extLst>
                  <a:ext uri="{0D108BD9-81ED-4DB2-BD59-A6C34878D82A}">
                    <a16:rowId xmlns:a16="http://schemas.microsoft.com/office/drawing/2014/main" val="1146057033"/>
                  </a:ext>
                </a:extLst>
              </a:tr>
              <a:tr h="740677">
                <a:tc>
                  <a:txBody>
                    <a:bodyPr/>
                    <a:lstStyle/>
                    <a:p>
                      <a:r>
                        <a:rPr lang="en-US" sz="1400" b="1"/>
                        <a:t>Dome/Top Center</a:t>
                      </a:r>
                      <a:endParaRPr lang="en-US" sz="1400"/>
                    </a:p>
                  </a:txBody>
                  <a:tcPr marL="71219" marR="71219" marT="35609" marB="35609" anchor="ctr"/>
                </a:tc>
                <a:tc>
                  <a:txBody>
                    <a:bodyPr/>
                    <a:lstStyle/>
                    <a:p>
                      <a:r>
                        <a:rPr lang="en-US" sz="1400" b="1"/>
                        <a:t>0.0854 MPa</a:t>
                      </a:r>
                      <a:endParaRPr lang="en-US" sz="1400"/>
                    </a:p>
                  </a:txBody>
                  <a:tcPr marL="71219" marR="71219" marT="35609" marB="35609" anchor="ctr"/>
                </a:tc>
                <a:tc>
                  <a:txBody>
                    <a:bodyPr/>
                    <a:lstStyle/>
                    <a:p>
                      <a:r>
                        <a:rPr lang="en-US" sz="1400"/>
                        <a:t>Highest stress zone due to full radial expansion</a:t>
                      </a:r>
                    </a:p>
                  </a:txBody>
                  <a:tcPr marL="71219" marR="71219" marT="35609" marB="35609" anchor="ctr"/>
                </a:tc>
                <a:extLst>
                  <a:ext uri="{0D108BD9-81ED-4DB2-BD59-A6C34878D82A}">
                    <a16:rowId xmlns:a16="http://schemas.microsoft.com/office/drawing/2014/main" val="1785338012"/>
                  </a:ext>
                </a:extLst>
              </a:tr>
              <a:tr h="740677">
                <a:tc>
                  <a:txBody>
                    <a:bodyPr/>
                    <a:lstStyle/>
                    <a:p>
                      <a:r>
                        <a:rPr lang="en-US" sz="1400" b="1"/>
                        <a:t>Mid-Wall Curvature</a:t>
                      </a:r>
                      <a:endParaRPr lang="en-US" sz="1400"/>
                    </a:p>
                  </a:txBody>
                  <a:tcPr marL="71219" marR="71219" marT="35609" marB="35609" anchor="ctr"/>
                </a:tc>
                <a:tc>
                  <a:txBody>
                    <a:bodyPr/>
                    <a:lstStyle/>
                    <a:p>
                      <a:r>
                        <a:rPr lang="en-US" sz="1400" b="1"/>
                        <a:t>~0.04–0.06 MPa</a:t>
                      </a:r>
                      <a:endParaRPr lang="en-US" sz="1400"/>
                    </a:p>
                  </a:txBody>
                  <a:tcPr marL="71219" marR="71219" marT="35609" marB="35609" anchor="ctr"/>
                </a:tc>
                <a:tc>
                  <a:txBody>
                    <a:bodyPr/>
                    <a:lstStyle/>
                    <a:p>
                      <a:r>
                        <a:rPr lang="en-US" sz="1400"/>
                        <a:t>Uniform stress across cylindrical body of the balloon</a:t>
                      </a:r>
                    </a:p>
                  </a:txBody>
                  <a:tcPr marL="71219" marR="71219" marT="35609" marB="35609" anchor="ctr"/>
                </a:tc>
                <a:extLst>
                  <a:ext uri="{0D108BD9-81ED-4DB2-BD59-A6C34878D82A}">
                    <a16:rowId xmlns:a16="http://schemas.microsoft.com/office/drawing/2014/main" val="1109131519"/>
                  </a:ext>
                </a:extLst>
              </a:tr>
              <a:tr h="740677">
                <a:tc>
                  <a:txBody>
                    <a:bodyPr/>
                    <a:lstStyle/>
                    <a:p>
                      <a:r>
                        <a:rPr lang="en-US" sz="1400" b="1" dirty="0"/>
                        <a:t>Base/Fixed Interface</a:t>
                      </a:r>
                      <a:endParaRPr lang="en-US" sz="1400" dirty="0"/>
                    </a:p>
                  </a:txBody>
                  <a:tcPr marL="71219" marR="71219" marT="35609" marB="35609" anchor="ctr"/>
                </a:tc>
                <a:tc>
                  <a:txBody>
                    <a:bodyPr/>
                    <a:lstStyle/>
                    <a:p>
                      <a:r>
                        <a:rPr lang="en-US" sz="1400" b="1"/>
                        <a:t>&lt; 0.005 MPa</a:t>
                      </a:r>
                      <a:endParaRPr lang="en-US" sz="1400"/>
                    </a:p>
                  </a:txBody>
                  <a:tcPr marL="71219" marR="71219" marT="35609" marB="35609" anchor="ctr"/>
                </a:tc>
                <a:tc>
                  <a:txBody>
                    <a:bodyPr/>
                    <a:lstStyle/>
                    <a:p>
                      <a:r>
                        <a:rPr lang="en-US" sz="1400" dirty="0"/>
                        <a:t>Minimal stress at the clamped or fixed surface</a:t>
                      </a:r>
                    </a:p>
                  </a:txBody>
                  <a:tcPr marL="71219" marR="71219" marT="35609" marB="35609" anchor="ctr"/>
                </a:tc>
                <a:extLst>
                  <a:ext uri="{0D108BD9-81ED-4DB2-BD59-A6C34878D82A}">
                    <a16:rowId xmlns:a16="http://schemas.microsoft.com/office/drawing/2014/main" val="726679693"/>
                  </a:ext>
                </a:extLst>
              </a:tr>
            </a:tbl>
          </a:graphicData>
        </a:graphic>
      </p:graphicFrame>
    </p:spTree>
    <p:extLst>
      <p:ext uri="{BB962C8B-B14F-4D97-AF65-F5344CB8AC3E}">
        <p14:creationId xmlns:p14="http://schemas.microsoft.com/office/powerpoint/2010/main" val="4138286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F5248-AF61-ABC6-DF3F-759D5B37AD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F145A-FD9D-4C23-4BEC-0FF5EEA70605}"/>
              </a:ext>
            </a:extLst>
          </p:cNvPr>
          <p:cNvSpPr>
            <a:spLocks noGrp="1"/>
          </p:cNvSpPr>
          <p:nvPr>
            <p:ph type="title"/>
          </p:nvPr>
        </p:nvSpPr>
        <p:spPr>
          <a:xfrm>
            <a:off x="8210623" y="1447800"/>
            <a:ext cx="3333676" cy="3096987"/>
          </a:xfrm>
        </p:spPr>
        <p:txBody>
          <a:bodyPr vert="horz" lIns="91440" tIns="45720" rIns="91440" bIns="45720" rtlCol="0" anchor="b">
            <a:normAutofit/>
          </a:bodyPr>
          <a:lstStyle/>
          <a:p>
            <a:pPr>
              <a:lnSpc>
                <a:spcPct val="90000"/>
              </a:lnSpc>
            </a:pPr>
            <a:r>
              <a:rPr lang="en-US" sz="5400" b="1" dirty="0"/>
              <a:t>Balloon Simulation &amp; Results</a:t>
            </a:r>
            <a:endParaRPr lang="en-US" sz="5000" dirty="0"/>
          </a:p>
        </p:txBody>
      </p:sp>
      <p:pic>
        <p:nvPicPr>
          <p:cNvPr id="5" name="Picture 4">
            <a:extLst>
              <a:ext uri="{FF2B5EF4-FFF2-40B4-BE49-F238E27FC236}">
                <a16:creationId xmlns:a16="http://schemas.microsoft.com/office/drawing/2014/main" id="{09A9506C-FD80-F565-A3E5-6EF111DE7054}"/>
              </a:ext>
            </a:extLst>
          </p:cNvPr>
          <p:cNvPicPr>
            <a:picLocks noChangeAspect="1"/>
          </p:cNvPicPr>
          <p:nvPr/>
        </p:nvPicPr>
        <p:blipFill>
          <a:blip r:embed="rId2">
            <a:extLst>
              <a:ext uri="{28A0092B-C50C-407E-A947-70E740481C1C}">
                <a14:useLocalDpi xmlns:a14="http://schemas.microsoft.com/office/drawing/2010/main" val="0"/>
              </a:ext>
            </a:extLst>
          </a:blip>
          <a:stretch/>
        </p:blipFill>
        <p:spPr>
          <a:xfrm>
            <a:off x="1450782" y="811050"/>
            <a:ext cx="4324849" cy="2011054"/>
          </a:xfrm>
          <a:prstGeom prst="rect">
            <a:avLst/>
          </a:prstGeom>
        </p:spPr>
      </p:pic>
      <p:pic>
        <p:nvPicPr>
          <p:cNvPr id="6" name="Content Placeholder 14">
            <a:extLst>
              <a:ext uri="{FF2B5EF4-FFF2-40B4-BE49-F238E27FC236}">
                <a16:creationId xmlns:a16="http://schemas.microsoft.com/office/drawing/2014/main" id="{63C1F0FF-8C61-E4AC-B4BF-C47C7F9278A6}"/>
              </a:ext>
            </a:extLst>
          </p:cNvPr>
          <p:cNvPicPr>
            <a:picLocks noChangeAspect="1"/>
          </p:cNvPicPr>
          <p:nvPr/>
        </p:nvPicPr>
        <p:blipFill>
          <a:blip r:embed="rId3"/>
          <a:stretch>
            <a:fillRect/>
          </a:stretch>
        </p:blipFill>
        <p:spPr>
          <a:xfrm>
            <a:off x="288184" y="4035897"/>
            <a:ext cx="7041393" cy="1665121"/>
          </a:xfrm>
          <a:prstGeom prst="rect">
            <a:avLst/>
          </a:prstGeom>
        </p:spPr>
      </p:pic>
    </p:spTree>
    <p:extLst>
      <p:ext uri="{BB962C8B-B14F-4D97-AF65-F5344CB8AC3E}">
        <p14:creationId xmlns:p14="http://schemas.microsoft.com/office/powerpoint/2010/main" val="3645574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C4B48-B987-39E8-DF66-97A9C7198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DDCC1C-3297-BF21-BDCA-1BD4A6B37BD0}"/>
              </a:ext>
            </a:extLst>
          </p:cNvPr>
          <p:cNvSpPr>
            <a:spLocks noGrp="1"/>
          </p:cNvSpPr>
          <p:nvPr>
            <p:ph type="title"/>
          </p:nvPr>
        </p:nvSpPr>
        <p:spPr>
          <a:xfrm>
            <a:off x="8210623" y="1447800"/>
            <a:ext cx="3333676" cy="3096987"/>
          </a:xfrm>
        </p:spPr>
        <p:txBody>
          <a:bodyPr vert="horz" lIns="91440" tIns="45720" rIns="91440" bIns="45720" rtlCol="0" anchor="b">
            <a:normAutofit/>
          </a:bodyPr>
          <a:lstStyle/>
          <a:p>
            <a:pPr>
              <a:lnSpc>
                <a:spcPct val="90000"/>
              </a:lnSpc>
            </a:pPr>
            <a:r>
              <a:rPr lang="en-US" sz="5400" b="1" dirty="0"/>
              <a:t>Balloon Simulation &amp; Results</a:t>
            </a:r>
            <a:endParaRPr lang="en-US" sz="5000" dirty="0"/>
          </a:p>
        </p:txBody>
      </p:sp>
      <p:pic>
        <p:nvPicPr>
          <p:cNvPr id="5" name="Picture 4">
            <a:extLst>
              <a:ext uri="{FF2B5EF4-FFF2-40B4-BE49-F238E27FC236}">
                <a16:creationId xmlns:a16="http://schemas.microsoft.com/office/drawing/2014/main" id="{7CD51704-3B33-DBB8-1E73-CD338899B92D}"/>
              </a:ext>
            </a:extLst>
          </p:cNvPr>
          <p:cNvPicPr>
            <a:picLocks noChangeAspect="1"/>
          </p:cNvPicPr>
          <p:nvPr/>
        </p:nvPicPr>
        <p:blipFill>
          <a:blip r:embed="rId2">
            <a:extLst>
              <a:ext uri="{28A0092B-C50C-407E-A947-70E740481C1C}">
                <a14:useLocalDpi xmlns:a14="http://schemas.microsoft.com/office/drawing/2010/main" val="0"/>
              </a:ext>
            </a:extLst>
          </a:blip>
          <a:stretch/>
        </p:blipFill>
        <p:spPr>
          <a:xfrm>
            <a:off x="1450782" y="811050"/>
            <a:ext cx="4324849" cy="2011054"/>
          </a:xfrm>
          <a:prstGeom prst="rect">
            <a:avLst/>
          </a:prstGeom>
        </p:spPr>
      </p:pic>
      <p:pic>
        <p:nvPicPr>
          <p:cNvPr id="6" name="Content Placeholder 14">
            <a:extLst>
              <a:ext uri="{FF2B5EF4-FFF2-40B4-BE49-F238E27FC236}">
                <a16:creationId xmlns:a16="http://schemas.microsoft.com/office/drawing/2014/main" id="{503DF94A-FE6B-5663-E9BB-E2FEEDD6FD8C}"/>
              </a:ext>
            </a:extLst>
          </p:cNvPr>
          <p:cNvPicPr>
            <a:picLocks noChangeAspect="1"/>
          </p:cNvPicPr>
          <p:nvPr/>
        </p:nvPicPr>
        <p:blipFill>
          <a:blip r:embed="rId3"/>
          <a:stretch>
            <a:fillRect/>
          </a:stretch>
        </p:blipFill>
        <p:spPr>
          <a:xfrm>
            <a:off x="288184" y="4035897"/>
            <a:ext cx="7041393" cy="1665121"/>
          </a:xfrm>
          <a:prstGeom prst="rect">
            <a:avLst/>
          </a:prstGeom>
        </p:spPr>
      </p:pic>
    </p:spTree>
    <p:extLst>
      <p:ext uri="{BB962C8B-B14F-4D97-AF65-F5344CB8AC3E}">
        <p14:creationId xmlns:p14="http://schemas.microsoft.com/office/powerpoint/2010/main" val="1087187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50664-5BE2-0F49-AFC4-6D929FA5405A}"/>
              </a:ext>
            </a:extLst>
          </p:cNvPr>
          <p:cNvSpPr>
            <a:spLocks noGrp="1"/>
          </p:cNvSpPr>
          <p:nvPr>
            <p:ph type="title"/>
          </p:nvPr>
        </p:nvSpPr>
        <p:spPr>
          <a:xfrm>
            <a:off x="646112" y="4212709"/>
            <a:ext cx="9164206" cy="831400"/>
          </a:xfrm>
        </p:spPr>
        <p:txBody>
          <a:bodyPr>
            <a:normAutofit/>
          </a:bodyPr>
          <a:lstStyle/>
          <a:p>
            <a:r>
              <a:rPr lang="en-US" sz="4000"/>
              <a:t>Linear actuator simulation &amp; Results</a:t>
            </a:r>
          </a:p>
        </p:txBody>
      </p:sp>
      <p:pic>
        <p:nvPicPr>
          <p:cNvPr id="5" name="Picture 4" descr="A computer screen shot of a colorful object&#10;&#10;AI-generated content may be incorrect.">
            <a:extLst>
              <a:ext uri="{FF2B5EF4-FFF2-40B4-BE49-F238E27FC236}">
                <a16:creationId xmlns:a16="http://schemas.microsoft.com/office/drawing/2014/main" id="{1971DA10-BB4C-0347-08DB-96E2A57BF8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457" y="1083386"/>
            <a:ext cx="4426563" cy="2357144"/>
          </a:xfrm>
          <a:prstGeom prst="rect">
            <a:avLst/>
          </a:prstGeom>
          <a:effectLst>
            <a:outerShdw blurRad="50800" dist="38100" dir="5400000" algn="t" rotWithShape="0">
              <a:prstClr val="black">
                <a:alpha val="43000"/>
              </a:prstClr>
            </a:outerShdw>
          </a:effectLst>
        </p:spPr>
      </p:pic>
      <p:sp>
        <p:nvSpPr>
          <p:cNvPr id="3" name="Content Placeholder 2">
            <a:extLst>
              <a:ext uri="{FF2B5EF4-FFF2-40B4-BE49-F238E27FC236}">
                <a16:creationId xmlns:a16="http://schemas.microsoft.com/office/drawing/2014/main" id="{E80D2FDE-7546-E56E-1A6B-8AD22FF1FBD6}"/>
              </a:ext>
            </a:extLst>
          </p:cNvPr>
          <p:cNvSpPr>
            <a:spLocks noGrp="1"/>
          </p:cNvSpPr>
          <p:nvPr>
            <p:ph idx="1"/>
          </p:nvPr>
        </p:nvSpPr>
        <p:spPr>
          <a:xfrm>
            <a:off x="635459" y="5163378"/>
            <a:ext cx="9164206" cy="1316931"/>
          </a:xfrm>
        </p:spPr>
        <p:txBody>
          <a:bodyPr>
            <a:normAutofit/>
          </a:bodyPr>
          <a:lstStyle/>
          <a:p>
            <a:pPr marL="0" indent="0">
              <a:buNone/>
            </a:pPr>
            <a:r>
              <a:rPr lang="en-US" sz="1800">
                <a:latin typeface="Aharoni" panose="02010803020104030203" pitchFamily="2" charset="-79"/>
                <a:cs typeface="Aharoni" panose="02010803020104030203" pitchFamily="2" charset="-79"/>
              </a:rPr>
              <a:t>Deformation</a:t>
            </a:r>
          </a:p>
          <a:p>
            <a:pPr marL="0" indent="0">
              <a:buNone/>
            </a:pPr>
            <a:endParaRPr lang="en-US" sz="1800"/>
          </a:p>
          <a:p>
            <a:endParaRPr lang="en-US" sz="1800"/>
          </a:p>
        </p:txBody>
      </p:sp>
      <p:graphicFrame>
        <p:nvGraphicFramePr>
          <p:cNvPr id="7" name="Table 6">
            <a:extLst>
              <a:ext uri="{FF2B5EF4-FFF2-40B4-BE49-F238E27FC236}">
                <a16:creationId xmlns:a16="http://schemas.microsoft.com/office/drawing/2014/main" id="{ADC65973-C0EB-C83A-8D68-B8DCC8F71412}"/>
              </a:ext>
            </a:extLst>
          </p:cNvPr>
          <p:cNvGraphicFramePr>
            <a:graphicFrameLocks noGrp="1"/>
          </p:cNvGraphicFramePr>
          <p:nvPr>
            <p:extLst>
              <p:ext uri="{D42A27DB-BD31-4B8C-83A1-F6EECF244321}">
                <p14:modId xmlns:p14="http://schemas.microsoft.com/office/powerpoint/2010/main" val="3057346679"/>
              </p:ext>
            </p:extLst>
          </p:nvPr>
        </p:nvGraphicFramePr>
        <p:xfrm>
          <a:off x="5383754" y="822610"/>
          <a:ext cx="4426565" cy="3303232"/>
        </p:xfrm>
        <a:graphic>
          <a:graphicData uri="http://schemas.openxmlformats.org/drawingml/2006/table">
            <a:tbl>
              <a:tblPr>
                <a:tableStyleId>{5940675A-B579-460E-94D1-54222C63F5DA}</a:tableStyleId>
              </a:tblPr>
              <a:tblGrid>
                <a:gridCol w="1457236">
                  <a:extLst>
                    <a:ext uri="{9D8B030D-6E8A-4147-A177-3AD203B41FA5}">
                      <a16:colId xmlns:a16="http://schemas.microsoft.com/office/drawing/2014/main" val="1089562287"/>
                    </a:ext>
                  </a:extLst>
                </a:gridCol>
                <a:gridCol w="1466132">
                  <a:extLst>
                    <a:ext uri="{9D8B030D-6E8A-4147-A177-3AD203B41FA5}">
                      <a16:colId xmlns:a16="http://schemas.microsoft.com/office/drawing/2014/main" val="3113537247"/>
                    </a:ext>
                  </a:extLst>
                </a:gridCol>
                <a:gridCol w="1503197">
                  <a:extLst>
                    <a:ext uri="{9D8B030D-6E8A-4147-A177-3AD203B41FA5}">
                      <a16:colId xmlns:a16="http://schemas.microsoft.com/office/drawing/2014/main" val="1189605147"/>
                    </a:ext>
                  </a:extLst>
                </a:gridCol>
              </a:tblGrid>
              <a:tr h="597170">
                <a:tc>
                  <a:txBody>
                    <a:bodyPr/>
                    <a:lstStyle/>
                    <a:p>
                      <a:r>
                        <a:rPr lang="en-US" sz="1600" b="1"/>
                        <a:t>Boundary Region</a:t>
                      </a:r>
                      <a:endParaRPr lang="en-US" sz="1600"/>
                    </a:p>
                  </a:txBody>
                  <a:tcPr marL="79085" marR="79085" marT="39543" marB="39543" anchor="ctr"/>
                </a:tc>
                <a:tc>
                  <a:txBody>
                    <a:bodyPr/>
                    <a:lstStyle/>
                    <a:p>
                      <a:r>
                        <a:rPr lang="en-US" sz="1600" b="1"/>
                        <a:t>Deformation (mm)</a:t>
                      </a:r>
                      <a:endParaRPr lang="en-US" sz="1600"/>
                    </a:p>
                  </a:txBody>
                  <a:tcPr marL="79085" marR="79085" marT="39543" marB="39543" anchor="ctr"/>
                </a:tc>
                <a:tc>
                  <a:txBody>
                    <a:bodyPr/>
                    <a:lstStyle/>
                    <a:p>
                      <a:r>
                        <a:rPr lang="en-US" sz="1600" b="1"/>
                        <a:t>Description</a:t>
                      </a:r>
                      <a:endParaRPr lang="en-US" sz="1600"/>
                    </a:p>
                  </a:txBody>
                  <a:tcPr marL="79085" marR="79085" marT="39543" marB="39543" anchor="ctr"/>
                </a:tc>
                <a:extLst>
                  <a:ext uri="{0D108BD9-81ED-4DB2-BD59-A6C34878D82A}">
                    <a16:rowId xmlns:a16="http://schemas.microsoft.com/office/drawing/2014/main" val="4136004576"/>
                  </a:ext>
                </a:extLst>
              </a:tr>
              <a:tr h="597170">
                <a:tc>
                  <a:txBody>
                    <a:bodyPr/>
                    <a:lstStyle/>
                    <a:p>
                      <a:r>
                        <a:rPr lang="en-US" sz="1600" b="1"/>
                        <a:t>Front End (Free Face)</a:t>
                      </a:r>
                      <a:endParaRPr lang="en-US" sz="1600"/>
                    </a:p>
                  </a:txBody>
                  <a:tcPr marL="79085" marR="79085" marT="39543" marB="39543" anchor="ctr"/>
                </a:tc>
                <a:tc>
                  <a:txBody>
                    <a:bodyPr/>
                    <a:lstStyle/>
                    <a:p>
                      <a:r>
                        <a:rPr lang="en-US" sz="1600" b="1"/>
                        <a:t>~242.19 mm</a:t>
                      </a:r>
                      <a:endParaRPr lang="en-US" sz="1600"/>
                    </a:p>
                  </a:txBody>
                  <a:tcPr marL="79085" marR="79085" marT="39543" marB="39543" anchor="ctr"/>
                </a:tc>
                <a:tc>
                  <a:txBody>
                    <a:bodyPr/>
                    <a:lstStyle/>
                    <a:p>
                      <a:r>
                        <a:rPr lang="en-US" sz="1600"/>
                        <a:t>Maximum elongation</a:t>
                      </a:r>
                    </a:p>
                  </a:txBody>
                  <a:tcPr marL="79085" marR="79085" marT="39543" marB="39543" anchor="ctr"/>
                </a:tc>
                <a:extLst>
                  <a:ext uri="{0D108BD9-81ED-4DB2-BD59-A6C34878D82A}">
                    <a16:rowId xmlns:a16="http://schemas.microsoft.com/office/drawing/2014/main" val="292928430"/>
                  </a:ext>
                </a:extLst>
              </a:tr>
              <a:tr h="839132">
                <a:tc>
                  <a:txBody>
                    <a:bodyPr/>
                    <a:lstStyle/>
                    <a:p>
                      <a:r>
                        <a:rPr lang="en-US" sz="1600" b="1"/>
                        <a:t>Mid-Bellow Sections</a:t>
                      </a:r>
                      <a:endParaRPr lang="en-US" sz="1600"/>
                    </a:p>
                  </a:txBody>
                  <a:tcPr marL="79085" marR="79085" marT="39543" marB="39543" anchor="ctr"/>
                </a:tc>
                <a:tc>
                  <a:txBody>
                    <a:bodyPr/>
                    <a:lstStyle/>
                    <a:p>
                      <a:r>
                        <a:rPr lang="en-US" sz="1600" b="1"/>
                        <a:t>~100–200 mm</a:t>
                      </a:r>
                      <a:endParaRPr lang="en-US" sz="1600"/>
                    </a:p>
                  </a:txBody>
                  <a:tcPr marL="79085" marR="79085" marT="39543" marB="39543" anchor="ctr"/>
                </a:tc>
                <a:tc>
                  <a:txBody>
                    <a:bodyPr/>
                    <a:lstStyle/>
                    <a:p>
                      <a:r>
                        <a:rPr lang="en-US" sz="1600"/>
                        <a:t>Variable expansion across bellows</a:t>
                      </a:r>
                    </a:p>
                  </a:txBody>
                  <a:tcPr marL="79085" marR="79085" marT="39543" marB="39543" anchor="ctr"/>
                </a:tc>
                <a:extLst>
                  <a:ext uri="{0D108BD9-81ED-4DB2-BD59-A6C34878D82A}">
                    <a16:rowId xmlns:a16="http://schemas.microsoft.com/office/drawing/2014/main" val="3214036027"/>
                  </a:ext>
                </a:extLst>
              </a:tr>
              <a:tr h="839132">
                <a:tc>
                  <a:txBody>
                    <a:bodyPr/>
                    <a:lstStyle/>
                    <a:p>
                      <a:r>
                        <a:rPr lang="en-US" sz="1600" b="1"/>
                        <a:t>Back End (Fixed Face)</a:t>
                      </a:r>
                      <a:endParaRPr lang="en-US" sz="1600"/>
                    </a:p>
                  </a:txBody>
                  <a:tcPr marL="79085" marR="79085" marT="39543" marB="39543" anchor="ctr"/>
                </a:tc>
                <a:tc>
                  <a:txBody>
                    <a:bodyPr/>
                    <a:lstStyle/>
                    <a:p>
                      <a:r>
                        <a:rPr lang="en-US" sz="1600" b="1"/>
                        <a:t>0 mm</a:t>
                      </a:r>
                      <a:endParaRPr lang="en-US" sz="1600"/>
                    </a:p>
                  </a:txBody>
                  <a:tcPr marL="79085" marR="79085" marT="39543" marB="39543" anchor="ctr"/>
                </a:tc>
                <a:tc>
                  <a:txBody>
                    <a:bodyPr/>
                    <a:lstStyle/>
                    <a:p>
                      <a:r>
                        <a:rPr lang="en-US" sz="1600"/>
                        <a:t>Fixed support zone, no displacement</a:t>
                      </a:r>
                    </a:p>
                  </a:txBody>
                  <a:tcPr marL="79085" marR="79085" marT="39543" marB="39543" anchor="ctr"/>
                </a:tc>
                <a:extLst>
                  <a:ext uri="{0D108BD9-81ED-4DB2-BD59-A6C34878D82A}">
                    <a16:rowId xmlns:a16="http://schemas.microsoft.com/office/drawing/2014/main" val="537623619"/>
                  </a:ext>
                </a:extLst>
              </a:tr>
            </a:tbl>
          </a:graphicData>
        </a:graphic>
      </p:graphicFrame>
    </p:spTree>
    <p:extLst>
      <p:ext uri="{BB962C8B-B14F-4D97-AF65-F5344CB8AC3E}">
        <p14:creationId xmlns:p14="http://schemas.microsoft.com/office/powerpoint/2010/main" val="4272211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DE2C815C-0D55-B324-BD8E-9F318505D67A}"/>
            </a:ext>
          </a:extLst>
        </p:cNvPr>
        <p:cNvGrpSpPr/>
        <p:nvPr/>
      </p:nvGrpSpPr>
      <p:grpSpPr>
        <a:xfrm>
          <a:off x="0" y="0"/>
          <a:ext cx="0" cy="0"/>
          <a:chOff x="0" y="0"/>
          <a:chExt cx="0" cy="0"/>
        </a:xfrm>
      </p:grpSpPr>
      <p:sp>
        <p:nvSpPr>
          <p:cNvPr id="11" name="Freeform: Shape 10">
            <a:extLst>
              <a:ext uri="{FF2B5EF4-FFF2-40B4-BE49-F238E27FC236}">
                <a16:creationId xmlns:a16="http://schemas.microsoft.com/office/drawing/2014/main" id="{BC004C91-9324-4E94-BC28-856AE162D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solidFill>
            <a:srgbClr val="FFFFFF"/>
          </a:solidFill>
          <a:ln>
            <a:noFill/>
          </a:ln>
        </p:spPr>
        <p:txBody>
          <a:bodyPr/>
          <a:lstStyle/>
          <a:p>
            <a:endParaRPr lang="en-US"/>
          </a:p>
        </p:txBody>
      </p:sp>
      <p:sp>
        <p:nvSpPr>
          <p:cNvPr id="13" name="Freeform 7">
            <a:extLst>
              <a:ext uri="{FF2B5EF4-FFF2-40B4-BE49-F238E27FC236}">
                <a16:creationId xmlns:a16="http://schemas.microsoft.com/office/drawing/2014/main" id="{5B562CD4-39C5-44ED-BD68-B789B305E0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A60A7BE2-85D5-8419-0B10-6A9E8D2FA436}"/>
              </a:ext>
            </a:extLst>
          </p:cNvPr>
          <p:cNvSpPr>
            <a:spLocks noGrp="1"/>
          </p:cNvSpPr>
          <p:nvPr>
            <p:ph type="title"/>
          </p:nvPr>
        </p:nvSpPr>
        <p:spPr>
          <a:xfrm>
            <a:off x="646111" y="452718"/>
            <a:ext cx="9404723" cy="1180711"/>
          </a:xfrm>
        </p:spPr>
        <p:txBody>
          <a:bodyPr>
            <a:normAutofit/>
          </a:bodyPr>
          <a:lstStyle/>
          <a:p>
            <a:r>
              <a:rPr lang="en-US"/>
              <a:t>Linear actuator simulation &amp; Results</a:t>
            </a:r>
          </a:p>
        </p:txBody>
      </p:sp>
      <p:sp>
        <p:nvSpPr>
          <p:cNvPr id="3" name="Content Placeholder 2">
            <a:extLst>
              <a:ext uri="{FF2B5EF4-FFF2-40B4-BE49-F238E27FC236}">
                <a16:creationId xmlns:a16="http://schemas.microsoft.com/office/drawing/2014/main" id="{90DC4F95-5EEE-C65C-A891-ED7FB5AC4F26}"/>
              </a:ext>
            </a:extLst>
          </p:cNvPr>
          <p:cNvSpPr>
            <a:spLocks noGrp="1"/>
          </p:cNvSpPr>
          <p:nvPr>
            <p:ph idx="1"/>
          </p:nvPr>
        </p:nvSpPr>
        <p:spPr>
          <a:xfrm>
            <a:off x="643856" y="2548281"/>
            <a:ext cx="7152860" cy="3654389"/>
          </a:xfrm>
        </p:spPr>
        <p:txBody>
          <a:bodyPr>
            <a:normAutofit/>
          </a:bodyPr>
          <a:lstStyle/>
          <a:p>
            <a:pPr marL="0" indent="0">
              <a:buNone/>
            </a:pPr>
            <a:r>
              <a:rPr lang="en-US">
                <a:solidFill>
                  <a:schemeClr val="bg1"/>
                </a:solidFill>
                <a:latin typeface="Aharoni" panose="02010803020104030203" pitchFamily="2" charset="-79"/>
                <a:cs typeface="Aharoni" panose="02010803020104030203" pitchFamily="2" charset="-79"/>
              </a:rPr>
              <a:t>Elastic strain</a:t>
            </a:r>
          </a:p>
          <a:p>
            <a:pPr marL="0" indent="0">
              <a:buNone/>
            </a:pPr>
            <a:endParaRPr lang="en-US">
              <a:solidFill>
                <a:schemeClr val="bg1"/>
              </a:solidFill>
            </a:endParaRPr>
          </a:p>
          <a:p>
            <a:endParaRPr lang="en-US">
              <a:solidFill>
                <a:schemeClr val="bg1"/>
              </a:solidFill>
            </a:endParaRPr>
          </a:p>
        </p:txBody>
      </p:sp>
      <p:pic>
        <p:nvPicPr>
          <p:cNvPr id="5" name="Picture 4">
            <a:extLst>
              <a:ext uri="{FF2B5EF4-FFF2-40B4-BE49-F238E27FC236}">
                <a16:creationId xmlns:a16="http://schemas.microsoft.com/office/drawing/2014/main" id="{10DA476E-22ED-CDA1-89E0-45D21B947221}"/>
              </a:ext>
            </a:extLst>
          </p:cNvPr>
          <p:cNvPicPr>
            <a:picLocks noChangeAspect="1"/>
          </p:cNvPicPr>
          <p:nvPr/>
        </p:nvPicPr>
        <p:blipFill>
          <a:blip r:embed="rId3">
            <a:extLst>
              <a:ext uri="{28A0092B-C50C-407E-A947-70E740481C1C}">
                <a14:useLocalDpi xmlns:a14="http://schemas.microsoft.com/office/drawing/2010/main" val="0"/>
              </a:ext>
            </a:extLst>
          </a:blip>
          <a:stretch/>
        </p:blipFill>
        <p:spPr>
          <a:xfrm>
            <a:off x="3542910" y="2548281"/>
            <a:ext cx="4420384" cy="2353855"/>
          </a:xfrm>
          <a:prstGeom prst="rect">
            <a:avLst/>
          </a:prstGeom>
          <a:effectLst/>
        </p:spPr>
      </p:pic>
      <p:pic>
        <p:nvPicPr>
          <p:cNvPr id="6" name="Picture 5">
            <a:extLst>
              <a:ext uri="{FF2B5EF4-FFF2-40B4-BE49-F238E27FC236}">
                <a16:creationId xmlns:a16="http://schemas.microsoft.com/office/drawing/2014/main" id="{E53CF3DC-4700-2075-17BA-DDFC73E76D23}"/>
              </a:ext>
            </a:extLst>
          </p:cNvPr>
          <p:cNvPicPr>
            <a:picLocks noChangeAspect="1"/>
          </p:cNvPicPr>
          <p:nvPr/>
        </p:nvPicPr>
        <p:blipFill>
          <a:blip r:embed="rId4"/>
          <a:stretch>
            <a:fillRect/>
          </a:stretch>
        </p:blipFill>
        <p:spPr>
          <a:xfrm>
            <a:off x="5348472" y="5317707"/>
            <a:ext cx="5956348" cy="1212628"/>
          </a:xfrm>
          <a:prstGeom prst="rect">
            <a:avLst/>
          </a:prstGeom>
          <a:effectLst/>
        </p:spPr>
      </p:pic>
    </p:spTree>
    <p:extLst>
      <p:ext uri="{BB962C8B-B14F-4D97-AF65-F5344CB8AC3E}">
        <p14:creationId xmlns:p14="http://schemas.microsoft.com/office/powerpoint/2010/main" val="1503979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4179F1B-F80C-30D2-1F98-81C17540A3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99D7C1-A11F-5CC1-77EF-F789FEDB8C4C}"/>
              </a:ext>
            </a:extLst>
          </p:cNvPr>
          <p:cNvSpPr>
            <a:spLocks noGrp="1"/>
          </p:cNvSpPr>
          <p:nvPr>
            <p:ph type="title"/>
          </p:nvPr>
        </p:nvSpPr>
        <p:spPr>
          <a:xfrm>
            <a:off x="646112" y="4212709"/>
            <a:ext cx="9164206" cy="831400"/>
          </a:xfrm>
        </p:spPr>
        <p:txBody>
          <a:bodyPr>
            <a:normAutofit/>
          </a:bodyPr>
          <a:lstStyle/>
          <a:p>
            <a:r>
              <a:rPr lang="en-US" sz="4000"/>
              <a:t>Linear actuator simulation &amp; Results</a:t>
            </a:r>
          </a:p>
        </p:txBody>
      </p:sp>
      <p:pic>
        <p:nvPicPr>
          <p:cNvPr id="5" name="Picture 4" descr="A computer screen shot of a blue and green object&#10;&#10;AI-generated content may be incorrect.">
            <a:extLst>
              <a:ext uri="{FF2B5EF4-FFF2-40B4-BE49-F238E27FC236}">
                <a16:creationId xmlns:a16="http://schemas.microsoft.com/office/drawing/2014/main" id="{1860E6C7-0928-31E4-A0FC-90257F3FBA7D}"/>
              </a:ext>
            </a:extLst>
          </p:cNvPr>
          <p:cNvPicPr>
            <a:picLocks noChangeAspect="1"/>
          </p:cNvPicPr>
          <p:nvPr/>
        </p:nvPicPr>
        <p:blipFill>
          <a:blip r:embed="rId3">
            <a:extLst>
              <a:ext uri="{28A0092B-C50C-407E-A947-70E740481C1C}">
                <a14:useLocalDpi xmlns:a14="http://schemas.microsoft.com/office/drawing/2010/main" val="0"/>
              </a:ext>
            </a:extLst>
          </a:blip>
          <a:stretch/>
        </p:blipFill>
        <p:spPr>
          <a:xfrm>
            <a:off x="635457" y="1083386"/>
            <a:ext cx="4426563" cy="2357144"/>
          </a:xfrm>
          <a:prstGeom prst="rect">
            <a:avLst/>
          </a:prstGeom>
          <a:effectLst>
            <a:outerShdw blurRad="50800" dist="38100" dir="5400000" algn="t" rotWithShape="0">
              <a:prstClr val="black">
                <a:alpha val="43000"/>
              </a:prstClr>
            </a:outerShdw>
          </a:effectLst>
        </p:spPr>
      </p:pic>
      <p:sp>
        <p:nvSpPr>
          <p:cNvPr id="3" name="Content Placeholder 2">
            <a:extLst>
              <a:ext uri="{FF2B5EF4-FFF2-40B4-BE49-F238E27FC236}">
                <a16:creationId xmlns:a16="http://schemas.microsoft.com/office/drawing/2014/main" id="{37284EEB-9E42-EEB2-9DAC-22DFCEFA8503}"/>
              </a:ext>
            </a:extLst>
          </p:cNvPr>
          <p:cNvSpPr>
            <a:spLocks noGrp="1"/>
          </p:cNvSpPr>
          <p:nvPr>
            <p:ph idx="1"/>
          </p:nvPr>
        </p:nvSpPr>
        <p:spPr>
          <a:xfrm>
            <a:off x="635459" y="5163378"/>
            <a:ext cx="9164206" cy="1316931"/>
          </a:xfrm>
        </p:spPr>
        <p:txBody>
          <a:bodyPr>
            <a:normAutofit/>
          </a:bodyPr>
          <a:lstStyle/>
          <a:p>
            <a:pPr marL="0" indent="0">
              <a:buNone/>
            </a:pPr>
            <a:r>
              <a:rPr lang="en-US" sz="1800" dirty="0">
                <a:latin typeface="Aharoni" panose="02010803020104030203" pitchFamily="2" charset="-79"/>
                <a:cs typeface="Aharoni" panose="02010803020104030203" pitchFamily="2" charset="-79"/>
              </a:rPr>
              <a:t>Stress</a:t>
            </a:r>
          </a:p>
          <a:p>
            <a:pPr marL="0" indent="0">
              <a:buNone/>
            </a:pPr>
            <a:endParaRPr lang="en-US" sz="1800" dirty="0"/>
          </a:p>
          <a:p>
            <a:endParaRPr lang="en-US" sz="1800" dirty="0"/>
          </a:p>
        </p:txBody>
      </p:sp>
      <p:graphicFrame>
        <p:nvGraphicFramePr>
          <p:cNvPr id="7" name="Content Placeholder 6">
            <a:extLst>
              <a:ext uri="{FF2B5EF4-FFF2-40B4-BE49-F238E27FC236}">
                <a16:creationId xmlns:a16="http://schemas.microsoft.com/office/drawing/2014/main" id="{2A8BD649-4C3C-0EF5-11DD-EB1166515C3A}"/>
              </a:ext>
            </a:extLst>
          </p:cNvPr>
          <p:cNvGraphicFramePr>
            <a:graphicFrameLocks/>
          </p:cNvGraphicFramePr>
          <p:nvPr>
            <p:extLst>
              <p:ext uri="{D42A27DB-BD31-4B8C-83A1-F6EECF244321}">
                <p14:modId xmlns:p14="http://schemas.microsoft.com/office/powerpoint/2010/main" val="2258487792"/>
              </p:ext>
            </p:extLst>
          </p:nvPr>
        </p:nvGraphicFramePr>
        <p:xfrm>
          <a:off x="5836037" y="496566"/>
          <a:ext cx="4426565" cy="3571880"/>
        </p:xfrm>
        <a:graphic>
          <a:graphicData uri="http://schemas.openxmlformats.org/drawingml/2006/table">
            <a:tbl>
              <a:tblPr>
                <a:tableStyleId>{5940675A-B579-460E-94D1-54222C63F5DA}</a:tableStyleId>
              </a:tblPr>
              <a:tblGrid>
                <a:gridCol w="1479235">
                  <a:extLst>
                    <a:ext uri="{9D8B030D-6E8A-4147-A177-3AD203B41FA5}">
                      <a16:colId xmlns:a16="http://schemas.microsoft.com/office/drawing/2014/main" val="863483559"/>
                    </a:ext>
                  </a:extLst>
                </a:gridCol>
                <a:gridCol w="1223015">
                  <a:extLst>
                    <a:ext uri="{9D8B030D-6E8A-4147-A177-3AD203B41FA5}">
                      <a16:colId xmlns:a16="http://schemas.microsoft.com/office/drawing/2014/main" val="2125742888"/>
                    </a:ext>
                  </a:extLst>
                </a:gridCol>
                <a:gridCol w="1724315">
                  <a:extLst>
                    <a:ext uri="{9D8B030D-6E8A-4147-A177-3AD203B41FA5}">
                      <a16:colId xmlns:a16="http://schemas.microsoft.com/office/drawing/2014/main" val="3058241468"/>
                    </a:ext>
                  </a:extLst>
                </a:gridCol>
              </a:tblGrid>
              <a:tr h="606956">
                <a:tc>
                  <a:txBody>
                    <a:bodyPr/>
                    <a:lstStyle/>
                    <a:p>
                      <a:r>
                        <a:rPr lang="en-US" sz="1600" b="1"/>
                        <a:t>Boundary Region</a:t>
                      </a:r>
                      <a:endParaRPr lang="en-US" sz="1600"/>
                    </a:p>
                  </a:txBody>
                  <a:tcPr marL="81401" marR="81401" marT="40701" marB="40701" anchor="ctr"/>
                </a:tc>
                <a:tc>
                  <a:txBody>
                    <a:bodyPr/>
                    <a:lstStyle/>
                    <a:p>
                      <a:r>
                        <a:rPr lang="en-US" sz="1600" b="1"/>
                        <a:t>Stress (MPa)</a:t>
                      </a:r>
                      <a:endParaRPr lang="en-US" sz="1600"/>
                    </a:p>
                  </a:txBody>
                  <a:tcPr marL="81401" marR="81401" marT="40701" marB="40701" anchor="ctr"/>
                </a:tc>
                <a:tc>
                  <a:txBody>
                    <a:bodyPr/>
                    <a:lstStyle/>
                    <a:p>
                      <a:r>
                        <a:rPr lang="en-US" sz="1600" b="1"/>
                        <a:t>Description</a:t>
                      </a:r>
                      <a:endParaRPr lang="en-US" sz="1600"/>
                    </a:p>
                  </a:txBody>
                  <a:tcPr marL="81401" marR="81401" marT="40701" marB="40701" anchor="ctr"/>
                </a:tc>
                <a:extLst>
                  <a:ext uri="{0D108BD9-81ED-4DB2-BD59-A6C34878D82A}">
                    <a16:rowId xmlns:a16="http://schemas.microsoft.com/office/drawing/2014/main" val="1096262576"/>
                  </a:ext>
                </a:extLst>
              </a:tr>
              <a:tr h="851400">
                <a:tc>
                  <a:txBody>
                    <a:bodyPr/>
                    <a:lstStyle/>
                    <a:p>
                      <a:r>
                        <a:rPr lang="en-US" sz="1600" b="1"/>
                        <a:t>Front End (Top Bellow Face)</a:t>
                      </a:r>
                      <a:endParaRPr lang="en-US" sz="1600"/>
                    </a:p>
                  </a:txBody>
                  <a:tcPr marL="81401" marR="81401" marT="40701" marB="40701" anchor="ctr"/>
                </a:tc>
                <a:tc>
                  <a:txBody>
                    <a:bodyPr/>
                    <a:lstStyle/>
                    <a:p>
                      <a:r>
                        <a:rPr lang="en-US" sz="1600" b="1"/>
                        <a:t>15.818 MPa</a:t>
                      </a:r>
                      <a:endParaRPr lang="en-US" sz="1600"/>
                    </a:p>
                  </a:txBody>
                  <a:tcPr marL="81401" marR="81401" marT="40701" marB="40701" anchor="ctr"/>
                </a:tc>
                <a:tc>
                  <a:txBody>
                    <a:bodyPr/>
                    <a:lstStyle/>
                    <a:p>
                      <a:r>
                        <a:rPr lang="en-US" sz="1600"/>
                        <a:t>Max stress</a:t>
                      </a:r>
                    </a:p>
                  </a:txBody>
                  <a:tcPr marL="81401" marR="81401" marT="40701" marB="40701" anchor="ctr"/>
                </a:tc>
                <a:extLst>
                  <a:ext uri="{0D108BD9-81ED-4DB2-BD59-A6C34878D82A}">
                    <a16:rowId xmlns:a16="http://schemas.microsoft.com/office/drawing/2014/main" val="1154708209"/>
                  </a:ext>
                </a:extLst>
              </a:tr>
              <a:tr h="1095844">
                <a:tc>
                  <a:txBody>
                    <a:bodyPr/>
                    <a:lstStyle/>
                    <a:p>
                      <a:r>
                        <a:rPr lang="en-US" sz="1600" b="1"/>
                        <a:t>Mid-Bellows</a:t>
                      </a:r>
                      <a:endParaRPr lang="en-US" sz="1600"/>
                    </a:p>
                  </a:txBody>
                  <a:tcPr marL="81401" marR="81401" marT="40701" marB="40701" anchor="ctr"/>
                </a:tc>
                <a:tc>
                  <a:txBody>
                    <a:bodyPr/>
                    <a:lstStyle/>
                    <a:p>
                      <a:r>
                        <a:rPr lang="en-US" sz="1600" b="1"/>
                        <a:t>~4–6 MPa</a:t>
                      </a:r>
                      <a:endParaRPr lang="en-US" sz="1600"/>
                    </a:p>
                  </a:txBody>
                  <a:tcPr marL="81401" marR="81401" marT="40701" marB="40701" anchor="ctr"/>
                </a:tc>
                <a:tc>
                  <a:txBody>
                    <a:bodyPr/>
                    <a:lstStyle/>
                    <a:p>
                      <a:r>
                        <a:rPr lang="en-US" sz="1600"/>
                        <a:t>Distributed stress along each expanding segment</a:t>
                      </a:r>
                    </a:p>
                  </a:txBody>
                  <a:tcPr marL="81401" marR="81401" marT="40701" marB="40701" anchor="ctr"/>
                </a:tc>
                <a:extLst>
                  <a:ext uri="{0D108BD9-81ED-4DB2-BD59-A6C34878D82A}">
                    <a16:rowId xmlns:a16="http://schemas.microsoft.com/office/drawing/2014/main" val="4209871899"/>
                  </a:ext>
                </a:extLst>
              </a:tr>
              <a:tr h="587098">
                <a:tc>
                  <a:txBody>
                    <a:bodyPr/>
                    <a:lstStyle/>
                    <a:p>
                      <a:r>
                        <a:rPr lang="en-US" sz="1600" b="1"/>
                        <a:t>Back End (Fixed)</a:t>
                      </a:r>
                      <a:endParaRPr lang="en-US" sz="1600"/>
                    </a:p>
                  </a:txBody>
                  <a:tcPr marL="81401" marR="81401" marT="40701" marB="40701" anchor="ctr"/>
                </a:tc>
                <a:tc>
                  <a:txBody>
                    <a:bodyPr/>
                    <a:lstStyle/>
                    <a:p>
                      <a:r>
                        <a:rPr lang="en-US" sz="1600" b="1"/>
                        <a:t>&lt; 0.03 MPa</a:t>
                      </a:r>
                      <a:endParaRPr lang="en-US" sz="1600"/>
                    </a:p>
                  </a:txBody>
                  <a:tcPr marL="81401" marR="81401" marT="40701" marB="40701" anchor="ctr"/>
                </a:tc>
                <a:tc>
                  <a:txBody>
                    <a:bodyPr/>
                    <a:lstStyle/>
                    <a:p>
                      <a:r>
                        <a:rPr lang="en-US" sz="1600" dirty="0"/>
                        <a:t>Very low stress at anchor region</a:t>
                      </a:r>
                    </a:p>
                  </a:txBody>
                  <a:tcPr marL="81401" marR="81401" marT="40701" marB="40701" anchor="ctr"/>
                </a:tc>
                <a:extLst>
                  <a:ext uri="{0D108BD9-81ED-4DB2-BD59-A6C34878D82A}">
                    <a16:rowId xmlns:a16="http://schemas.microsoft.com/office/drawing/2014/main" val="3974730670"/>
                  </a:ext>
                </a:extLst>
              </a:tr>
            </a:tbl>
          </a:graphicData>
        </a:graphic>
      </p:graphicFrame>
    </p:spTree>
    <p:extLst>
      <p:ext uri="{BB962C8B-B14F-4D97-AF65-F5344CB8AC3E}">
        <p14:creationId xmlns:p14="http://schemas.microsoft.com/office/powerpoint/2010/main" val="3755932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1" name="Picture 30">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2" name="Oval 31">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3" name="Picture 32">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4" name="Picture 33">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5" name="Rectangle 34">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62E4390-EB5B-43AD-01D6-A31D87E0F14B}"/>
              </a:ext>
            </a:extLst>
          </p:cNvPr>
          <p:cNvSpPr>
            <a:spLocks noGrp="1"/>
          </p:cNvSpPr>
          <p:nvPr>
            <p:ph type="title"/>
          </p:nvPr>
        </p:nvSpPr>
        <p:spPr>
          <a:xfrm>
            <a:off x="635458" y="4542502"/>
            <a:ext cx="9181185" cy="1189985"/>
          </a:xfrm>
        </p:spPr>
        <p:txBody>
          <a:bodyPr vert="horz" lIns="91440" tIns="45720" rIns="91440" bIns="45720" rtlCol="0" anchor="b">
            <a:normAutofit/>
          </a:bodyPr>
          <a:lstStyle/>
          <a:p>
            <a:r>
              <a:rPr lang="en-US" sz="6000"/>
              <a:t>Pouring the mold</a:t>
            </a:r>
          </a:p>
        </p:txBody>
      </p:sp>
      <p:pic>
        <p:nvPicPr>
          <p:cNvPr id="5" name="Content Placeholder 4" descr="A plastic container with a tube in it&#10;&#10;AI-generated content may be incorrect.">
            <a:extLst>
              <a:ext uri="{FF2B5EF4-FFF2-40B4-BE49-F238E27FC236}">
                <a16:creationId xmlns:a16="http://schemas.microsoft.com/office/drawing/2014/main" id="{C9994145-5281-E4BA-8BE6-729063C015B6}"/>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1098944" y="640080"/>
            <a:ext cx="2026539" cy="3602736"/>
          </a:xfrm>
          <a:prstGeom prst="rect">
            <a:avLst/>
          </a:prstGeom>
          <a:effectLst>
            <a:outerShdw blurRad="50800" dist="38100" dir="5400000" algn="t" rotWithShape="0">
              <a:prstClr val="black">
                <a:alpha val="43000"/>
              </a:prstClr>
            </a:outerShdw>
          </a:effectLst>
        </p:spPr>
      </p:pic>
      <p:pic>
        <p:nvPicPr>
          <p:cNvPr id="9" name="Picture 8" descr="A blue object next to a ruler&#10;&#10;AI-generated content may be incorrect.">
            <a:extLst>
              <a:ext uri="{FF2B5EF4-FFF2-40B4-BE49-F238E27FC236}">
                <a16:creationId xmlns:a16="http://schemas.microsoft.com/office/drawing/2014/main" id="{54E7CA0C-61DC-28D0-BB2E-1F6EA4CE248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09552" y="637032"/>
            <a:ext cx="2026539" cy="3602736"/>
          </a:xfrm>
          <a:prstGeom prst="rect">
            <a:avLst/>
          </a:prstGeom>
          <a:effectLst>
            <a:outerShdw blurRad="50800" dist="38100" dir="5400000" algn="t" rotWithShape="0">
              <a:prstClr val="black">
                <a:alpha val="43000"/>
              </a:prstClr>
            </a:outerShdw>
          </a:effectLst>
        </p:spPr>
      </p:pic>
      <p:pic>
        <p:nvPicPr>
          <p:cNvPr id="7" name="Picture 6" descr="A hand holding a pressure gauge&#10;&#10;AI-generated content may be incorrect.">
            <a:extLst>
              <a:ext uri="{FF2B5EF4-FFF2-40B4-BE49-F238E27FC236}">
                <a16:creationId xmlns:a16="http://schemas.microsoft.com/office/drawing/2014/main" id="{75B2B51F-5C99-84AC-5A13-7A54A55B28A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320291" y="637032"/>
            <a:ext cx="2026539" cy="3602736"/>
          </a:xfrm>
          <a:prstGeom prst="rect">
            <a:avLst/>
          </a:prstGeom>
          <a:effectLst>
            <a:outerShdw blurRad="50800" dist="38100" dir="5400000" algn="t" rotWithShape="0">
              <a:prstClr val="black">
                <a:alpha val="43000"/>
              </a:prstClr>
            </a:outerShdw>
          </a:effectLst>
        </p:spPr>
      </p:pic>
    </p:spTree>
    <p:extLst>
      <p:ext uri="{BB962C8B-B14F-4D97-AF65-F5344CB8AC3E}">
        <p14:creationId xmlns:p14="http://schemas.microsoft.com/office/powerpoint/2010/main" val="3730557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44D51-5806-347D-6D8B-BFA67EEE3D43}"/>
              </a:ext>
            </a:extLst>
          </p:cNvPr>
          <p:cNvSpPr>
            <a:spLocks noGrp="1"/>
          </p:cNvSpPr>
          <p:nvPr>
            <p:ph type="title"/>
          </p:nvPr>
        </p:nvSpPr>
        <p:spPr>
          <a:xfrm>
            <a:off x="646111" y="1447799"/>
            <a:ext cx="3105075" cy="1444750"/>
          </a:xfrm>
        </p:spPr>
        <p:txBody>
          <a:bodyPr vert="horz" lIns="91440" tIns="45720" rIns="91440" bIns="45720" rtlCol="0" anchor="b">
            <a:normAutofit/>
          </a:bodyPr>
          <a:lstStyle/>
          <a:p>
            <a:r>
              <a:rPr lang="en-US" sz="3200"/>
              <a:t>Test the liner part</a:t>
            </a:r>
          </a:p>
        </p:txBody>
      </p:sp>
      <p:sp>
        <p:nvSpPr>
          <p:cNvPr id="14" name="Freeform: Shape 13">
            <a:extLst>
              <a:ext uri="{FF2B5EF4-FFF2-40B4-BE49-F238E27FC236}">
                <a16:creationId xmlns:a16="http://schemas.microsoft.com/office/drawing/2014/main" id="{C77F74B7-5344-4985-8463-5B8EE7030F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747655" y="-586345"/>
            <a:ext cx="6858001" cy="8030691"/>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en-US"/>
          </a:p>
        </p:txBody>
      </p:sp>
      <p:sp>
        <p:nvSpPr>
          <p:cNvPr id="16" name="Freeform 23">
            <a:extLst>
              <a:ext uri="{FF2B5EF4-FFF2-40B4-BE49-F238E27FC236}">
                <a16:creationId xmlns:a16="http://schemas.microsoft.com/office/drawing/2014/main" id="{0E38218E-B21F-433A-BB44-F15DE7DC66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8" name="Rectangle 17">
            <a:extLst>
              <a:ext uri="{FF2B5EF4-FFF2-40B4-BE49-F238E27FC236}">
                <a16:creationId xmlns:a16="http://schemas.microsoft.com/office/drawing/2014/main" id="{080DD7D4-CD57-4577-ACCC-43E1C72F77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TextBox 8">
            <a:extLst>
              <a:ext uri="{FF2B5EF4-FFF2-40B4-BE49-F238E27FC236}">
                <a16:creationId xmlns:a16="http://schemas.microsoft.com/office/drawing/2014/main" id="{C12952E2-FCF7-CD92-8EAD-39906F81996E}"/>
              </a:ext>
            </a:extLst>
          </p:cNvPr>
          <p:cNvSpPr txBox="1"/>
          <p:nvPr/>
        </p:nvSpPr>
        <p:spPr>
          <a:xfrm>
            <a:off x="646111" y="3088493"/>
            <a:ext cx="3104751" cy="2931307"/>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sz="1600">
                <a:latin typeface="+mj-lt"/>
                <a:ea typeface="+mj-ea"/>
                <a:cs typeface="+mj-cs"/>
              </a:rPr>
              <a:t>Initial length:127 mm</a:t>
            </a:r>
          </a:p>
          <a:p>
            <a:pPr>
              <a:spcBef>
                <a:spcPts val="1000"/>
              </a:spcBef>
              <a:buClr>
                <a:schemeClr val="bg2">
                  <a:lumMod val="40000"/>
                  <a:lumOff val="60000"/>
                </a:schemeClr>
              </a:buClr>
              <a:buSzPct val="80000"/>
              <a:buFont typeface="Wingdings 3" charset="2"/>
              <a:buChar char=""/>
            </a:pPr>
            <a:r>
              <a:rPr lang="en-US" sz="1600">
                <a:latin typeface="+mj-lt"/>
                <a:ea typeface="+mj-ea"/>
                <a:cs typeface="+mj-cs"/>
              </a:rPr>
              <a:t>Final length:203.2 mm</a:t>
            </a:r>
          </a:p>
          <a:p>
            <a:pPr>
              <a:spcBef>
                <a:spcPts val="1000"/>
              </a:spcBef>
              <a:buClr>
                <a:schemeClr val="bg2">
                  <a:lumMod val="40000"/>
                  <a:lumOff val="60000"/>
                </a:schemeClr>
              </a:buClr>
              <a:buSzPct val="80000"/>
              <a:buFont typeface="Wingdings 3" charset="2"/>
              <a:buChar char=""/>
            </a:pPr>
            <a:r>
              <a:rPr lang="en-US" sz="1600">
                <a:latin typeface="+mj-lt"/>
                <a:ea typeface="+mj-ea"/>
                <a:cs typeface="+mj-cs"/>
              </a:rPr>
              <a:t>Extension: 60%</a:t>
            </a:r>
          </a:p>
        </p:txBody>
      </p:sp>
      <p:pic>
        <p:nvPicPr>
          <p:cNvPr id="7" name="Picture 6" descr="A hand holding a blue plastic container&#10;&#10;AI-generated content may be incorrect.">
            <a:extLst>
              <a:ext uri="{FF2B5EF4-FFF2-40B4-BE49-F238E27FC236}">
                <a16:creationId xmlns:a16="http://schemas.microsoft.com/office/drawing/2014/main" id="{DF857F1D-DAEE-1AE5-81E4-0806B2CF97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3763" y="1447799"/>
            <a:ext cx="2057400" cy="4572001"/>
          </a:xfrm>
          <a:prstGeom prst="rect">
            <a:avLst/>
          </a:prstGeom>
          <a:effectLst/>
        </p:spPr>
      </p:pic>
      <p:pic>
        <p:nvPicPr>
          <p:cNvPr id="5" name="Content Placeholder 4" descr="A blue object next to a ruler&#10;&#10;AI-generated content may be incorrect.">
            <a:extLst>
              <a:ext uri="{FF2B5EF4-FFF2-40B4-BE49-F238E27FC236}">
                <a16:creationId xmlns:a16="http://schemas.microsoft.com/office/drawing/2014/main" id="{9CD0BC5B-18E9-069A-8AD4-AA2873DD4858}"/>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8682227" y="1447799"/>
            <a:ext cx="2571750" cy="4572001"/>
          </a:xfrm>
          <a:prstGeom prst="rect">
            <a:avLst/>
          </a:prstGeom>
          <a:effectLst/>
        </p:spPr>
      </p:pic>
    </p:spTree>
    <p:extLst>
      <p:ext uri="{BB962C8B-B14F-4D97-AF65-F5344CB8AC3E}">
        <p14:creationId xmlns:p14="http://schemas.microsoft.com/office/powerpoint/2010/main" val="1031784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7D4F6-9584-F523-7139-73210ECFD901}"/>
              </a:ext>
            </a:extLst>
          </p:cNvPr>
          <p:cNvSpPr>
            <a:spLocks noGrp="1"/>
          </p:cNvSpPr>
          <p:nvPr>
            <p:ph type="title"/>
          </p:nvPr>
        </p:nvSpPr>
        <p:spPr>
          <a:xfrm>
            <a:off x="646111" y="1447799"/>
            <a:ext cx="3105075" cy="1444750"/>
          </a:xfrm>
        </p:spPr>
        <p:txBody>
          <a:bodyPr anchor="b">
            <a:normAutofit/>
          </a:bodyPr>
          <a:lstStyle/>
          <a:p>
            <a:r>
              <a:rPr lang="en-US" sz="3200"/>
              <a:t>Assembly</a:t>
            </a:r>
          </a:p>
        </p:txBody>
      </p:sp>
      <p:sp>
        <p:nvSpPr>
          <p:cNvPr id="16" name="Freeform: Shape 15">
            <a:extLst>
              <a:ext uri="{FF2B5EF4-FFF2-40B4-BE49-F238E27FC236}">
                <a16:creationId xmlns:a16="http://schemas.microsoft.com/office/drawing/2014/main" id="{18073EE4-EB60-444A-A7EA-82035FCDE0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4747655" y="-586345"/>
            <a:ext cx="6858001" cy="8030691"/>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en-US"/>
          </a:p>
        </p:txBody>
      </p:sp>
      <p:sp>
        <p:nvSpPr>
          <p:cNvPr id="18" name="Freeform 23">
            <a:extLst>
              <a:ext uri="{FF2B5EF4-FFF2-40B4-BE49-F238E27FC236}">
                <a16:creationId xmlns:a16="http://schemas.microsoft.com/office/drawing/2014/main" id="{86AD7ABD-24C8-4B21-A948-ABC2F8C70B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0" name="Rectangle 19">
            <a:extLst>
              <a:ext uri="{FF2B5EF4-FFF2-40B4-BE49-F238E27FC236}">
                <a16:creationId xmlns:a16="http://schemas.microsoft.com/office/drawing/2014/main" id="{B63082B3-0202-4A7D-A42B-721E4CE9E2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Content Placeholder 12">
            <a:extLst>
              <a:ext uri="{FF2B5EF4-FFF2-40B4-BE49-F238E27FC236}">
                <a16:creationId xmlns:a16="http://schemas.microsoft.com/office/drawing/2014/main" id="{E747FE05-BCFB-172C-D4DF-B80938E93717}"/>
              </a:ext>
            </a:extLst>
          </p:cNvPr>
          <p:cNvSpPr>
            <a:spLocks noGrp="1"/>
          </p:cNvSpPr>
          <p:nvPr>
            <p:ph idx="1"/>
          </p:nvPr>
        </p:nvSpPr>
        <p:spPr>
          <a:xfrm>
            <a:off x="646111" y="3088493"/>
            <a:ext cx="3104751" cy="2931307"/>
          </a:xfrm>
        </p:spPr>
        <p:txBody>
          <a:bodyPr>
            <a:normAutofit/>
          </a:bodyPr>
          <a:lstStyle/>
          <a:p>
            <a:r>
              <a:rPr lang="en-US" sz="1600" dirty="0"/>
              <a:t>We assembled the pieces via silicon.</a:t>
            </a:r>
          </a:p>
        </p:txBody>
      </p:sp>
      <p:pic>
        <p:nvPicPr>
          <p:cNvPr id="7" name="Picture 6" descr="A blue and black object with a ruler&#10;&#10;AI-generated content may be incorrect.">
            <a:extLst>
              <a:ext uri="{FF2B5EF4-FFF2-40B4-BE49-F238E27FC236}">
                <a16:creationId xmlns:a16="http://schemas.microsoft.com/office/drawing/2014/main" id="{E00CC0F6-72CE-0EF1-7CA7-79AC382A5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5737082" y="968040"/>
            <a:ext cx="1770762" cy="3148022"/>
          </a:xfrm>
          <a:prstGeom prst="rect">
            <a:avLst/>
          </a:prstGeom>
          <a:effectLst/>
        </p:spPr>
      </p:pic>
      <p:pic>
        <p:nvPicPr>
          <p:cNvPr id="5" name="Content Placeholder 4" descr="A table with a measuring tape and a blue object on it&#10;&#10;AI-generated content may be incorrect.">
            <a:extLst>
              <a:ext uri="{FF2B5EF4-FFF2-40B4-BE49-F238E27FC236}">
                <a16:creationId xmlns:a16="http://schemas.microsoft.com/office/drawing/2014/main" id="{2531D550-1B24-F7FB-FFF2-077964578C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48452" y="4040167"/>
            <a:ext cx="3148022" cy="1770762"/>
          </a:xfrm>
          <a:prstGeom prst="rect">
            <a:avLst/>
          </a:prstGeom>
          <a:effectLst/>
        </p:spPr>
      </p:pic>
      <p:pic>
        <p:nvPicPr>
          <p:cNvPr id="9" name="Picture 8" descr="Two bottles of liquid on a table&#10;&#10;AI-generated content may be incorrect.">
            <a:extLst>
              <a:ext uri="{FF2B5EF4-FFF2-40B4-BE49-F238E27FC236}">
                <a16:creationId xmlns:a16="http://schemas.microsoft.com/office/drawing/2014/main" id="{475052CE-99DB-5588-4DB5-C937F2025B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39402" y="1447799"/>
            <a:ext cx="2057400" cy="4572001"/>
          </a:xfrm>
          <a:prstGeom prst="rect">
            <a:avLst/>
          </a:prstGeom>
          <a:effectLst/>
        </p:spPr>
      </p:pic>
    </p:spTree>
    <p:extLst>
      <p:ext uri="{BB962C8B-B14F-4D97-AF65-F5344CB8AC3E}">
        <p14:creationId xmlns:p14="http://schemas.microsoft.com/office/powerpoint/2010/main" val="3848710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DD48C46-043A-F5C7-4F21-A60813E6FF84}"/>
              </a:ext>
            </a:extLst>
          </p:cNvPr>
          <p:cNvSpPr>
            <a:spLocks noGrp="1"/>
          </p:cNvSpPr>
          <p:nvPr>
            <p:ph type="title"/>
          </p:nvPr>
        </p:nvSpPr>
        <p:spPr>
          <a:xfrm>
            <a:off x="648930" y="629267"/>
            <a:ext cx="9252154" cy="1016654"/>
          </a:xfrm>
        </p:spPr>
        <p:txBody>
          <a:bodyPr>
            <a:normAutofit/>
          </a:bodyPr>
          <a:lstStyle/>
          <a:p>
            <a:r>
              <a:rPr lang="en-US">
                <a:solidFill>
                  <a:srgbClr val="EBEBEB"/>
                </a:solidFill>
              </a:rPr>
              <a:t>Conclusions</a:t>
            </a:r>
          </a:p>
        </p:txBody>
      </p:sp>
      <p:sp>
        <p:nvSpPr>
          <p:cNvPr id="13" name="Rectangle 12">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Shape 14">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5" name="Content Placeholder 2">
            <a:extLst>
              <a:ext uri="{FF2B5EF4-FFF2-40B4-BE49-F238E27FC236}">
                <a16:creationId xmlns:a16="http://schemas.microsoft.com/office/drawing/2014/main" id="{8A8C5B29-2E19-1B43-D2BD-EAD00C8962C6}"/>
              </a:ext>
            </a:extLst>
          </p:cNvPr>
          <p:cNvGraphicFramePr>
            <a:graphicFrameLocks noGrp="1"/>
          </p:cNvGraphicFramePr>
          <p:nvPr>
            <p:ph idx="1"/>
            <p:extLst>
              <p:ext uri="{D42A27DB-BD31-4B8C-83A1-F6EECF244321}">
                <p14:modId xmlns:p14="http://schemas.microsoft.com/office/powerpoint/2010/main" val="2666589673"/>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7408737"/>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7439D2-05E7-5B8A-401B-F3DEFF811E89}"/>
              </a:ext>
            </a:extLst>
          </p:cNvPr>
          <p:cNvSpPr>
            <a:spLocks noGrp="1"/>
          </p:cNvSpPr>
          <p:nvPr>
            <p:ph type="title"/>
          </p:nvPr>
        </p:nvSpPr>
        <p:spPr>
          <a:xfrm>
            <a:off x="5411931" y="452718"/>
            <a:ext cx="4638903" cy="1400530"/>
          </a:xfrm>
        </p:spPr>
        <p:txBody>
          <a:bodyPr>
            <a:normAutofit/>
          </a:bodyPr>
          <a:lstStyle/>
          <a:p>
            <a:pPr>
              <a:lnSpc>
                <a:spcPct val="90000"/>
              </a:lnSpc>
            </a:pPr>
            <a:r>
              <a:rPr lang="en-US" sz="3600"/>
              <a:t>Recommendations for future research</a:t>
            </a: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Claw building a card house">
            <a:extLst>
              <a:ext uri="{FF2B5EF4-FFF2-40B4-BE49-F238E27FC236}">
                <a16:creationId xmlns:a16="http://schemas.microsoft.com/office/drawing/2014/main" id="{AB036C28-E36A-D5AC-5874-5EE1DD238C1D}"/>
              </a:ext>
            </a:extLst>
          </p:cNvPr>
          <p:cNvPicPr>
            <a:picLocks noChangeAspect="1"/>
          </p:cNvPicPr>
          <p:nvPr/>
        </p:nvPicPr>
        <p:blipFill>
          <a:blip r:embed="rId3"/>
          <a:srcRect l="3373" r="2" b="2"/>
          <a:stretch>
            <a:fillRect/>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p:spPr>
      </p:pic>
      <p:sp>
        <p:nvSpPr>
          <p:cNvPr id="13" name="Rectangle 12">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2CF8DD71-676C-E67A-6EE2-7C0656998AC9}"/>
              </a:ext>
            </a:extLst>
          </p:cNvPr>
          <p:cNvSpPr>
            <a:spLocks noGrp="1"/>
          </p:cNvSpPr>
          <p:nvPr>
            <p:ph idx="1"/>
          </p:nvPr>
        </p:nvSpPr>
        <p:spPr>
          <a:xfrm>
            <a:off x="5410950" y="2052918"/>
            <a:ext cx="4638903" cy="4195481"/>
          </a:xfrm>
        </p:spPr>
        <p:txBody>
          <a:bodyPr>
            <a:normAutofit/>
          </a:bodyPr>
          <a:lstStyle/>
          <a:p>
            <a:pPr marL="0" indent="0">
              <a:lnSpc>
                <a:spcPct val="90000"/>
              </a:lnSpc>
              <a:buNone/>
            </a:pPr>
            <a:r>
              <a:rPr lang="en-US" sz="1100" dirty="0"/>
              <a:t>Integrate Sensors</a:t>
            </a:r>
          </a:p>
          <a:p>
            <a:pPr>
              <a:lnSpc>
                <a:spcPct val="90000"/>
              </a:lnSpc>
            </a:pPr>
            <a:r>
              <a:rPr lang="en-US" sz="1100" dirty="0"/>
              <a:t>Incorporate sensors (for leak detection or crack identification) to improve the robot’s inspection capabilities.</a:t>
            </a:r>
          </a:p>
          <a:p>
            <a:pPr>
              <a:lnSpc>
                <a:spcPct val="90000"/>
              </a:lnSpc>
            </a:pPr>
            <a:endParaRPr lang="en-US" sz="1100" dirty="0"/>
          </a:p>
          <a:p>
            <a:pPr marL="0" indent="0">
              <a:lnSpc>
                <a:spcPct val="90000"/>
              </a:lnSpc>
              <a:buNone/>
            </a:pPr>
            <a:r>
              <a:rPr lang="en-US" sz="1100" dirty="0"/>
              <a:t> Material Improvements</a:t>
            </a:r>
          </a:p>
          <a:p>
            <a:pPr>
              <a:lnSpc>
                <a:spcPct val="90000"/>
              </a:lnSpc>
            </a:pPr>
            <a:r>
              <a:rPr lang="en-US" sz="1100" dirty="0"/>
              <a:t>Explore alternative soft materials or composites to increase durability, flexibility, and performance under harsh conditions.</a:t>
            </a:r>
          </a:p>
          <a:p>
            <a:pPr>
              <a:lnSpc>
                <a:spcPct val="90000"/>
              </a:lnSpc>
            </a:pPr>
            <a:endParaRPr lang="en-US" sz="1100" dirty="0"/>
          </a:p>
          <a:p>
            <a:pPr marL="0" indent="0">
              <a:lnSpc>
                <a:spcPct val="90000"/>
              </a:lnSpc>
              <a:buNone/>
            </a:pPr>
            <a:r>
              <a:rPr lang="en-US" sz="1100" dirty="0"/>
              <a:t> Field Testing</a:t>
            </a:r>
          </a:p>
          <a:p>
            <a:pPr>
              <a:lnSpc>
                <a:spcPct val="90000"/>
              </a:lnSpc>
            </a:pPr>
            <a:r>
              <a:rPr lang="en-US" sz="1100" dirty="0"/>
              <a:t>Conduct extensive real-world trials to validate the robot’s reliability, efficiency, and scalability in industrial environments.</a:t>
            </a:r>
          </a:p>
          <a:p>
            <a:pPr marL="0" indent="0">
              <a:lnSpc>
                <a:spcPct val="90000"/>
              </a:lnSpc>
              <a:buNone/>
            </a:pPr>
            <a:r>
              <a:rPr lang="en-US" sz="1100" dirty="0"/>
              <a:t>Data Analytics Integration</a:t>
            </a:r>
          </a:p>
          <a:p>
            <a:pPr>
              <a:lnSpc>
                <a:spcPct val="90000"/>
              </a:lnSpc>
            </a:pPr>
            <a:r>
              <a:rPr lang="en-US" sz="1100" dirty="0"/>
              <a:t>Integrate collected data with AI-driven analytics for real-time assessment, predictive maintenance, and automated reporting.</a:t>
            </a:r>
          </a:p>
          <a:p>
            <a:pPr>
              <a:lnSpc>
                <a:spcPct val="90000"/>
              </a:lnSpc>
            </a:pPr>
            <a:endParaRPr lang="en-US" sz="1100" dirty="0"/>
          </a:p>
        </p:txBody>
      </p:sp>
    </p:spTree>
    <p:extLst>
      <p:ext uri="{BB962C8B-B14F-4D97-AF65-F5344CB8AC3E}">
        <p14:creationId xmlns:p14="http://schemas.microsoft.com/office/powerpoint/2010/main" val="25004484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9" name="Rectangle 1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C6A81905-F480-46A4-BC10-215D24EA1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9C81AC-6B32-FD26-20DD-8C5313B62663}"/>
              </a:ext>
            </a:extLst>
          </p:cNvPr>
          <p:cNvSpPr>
            <a:spLocks noGrp="1"/>
          </p:cNvSpPr>
          <p:nvPr>
            <p:ph type="title"/>
          </p:nvPr>
        </p:nvSpPr>
        <p:spPr>
          <a:xfrm>
            <a:off x="4872012" y="1447800"/>
            <a:ext cx="5222325" cy="3329581"/>
          </a:xfrm>
        </p:spPr>
        <p:txBody>
          <a:bodyPr vert="horz" lIns="91440" tIns="45720" rIns="91440" bIns="45720" rtlCol="0" anchor="b">
            <a:normAutofit/>
          </a:bodyPr>
          <a:lstStyle/>
          <a:p>
            <a:r>
              <a:rPr lang="en-US" sz="7200" b="0" i="0" kern="1200">
                <a:solidFill>
                  <a:srgbClr val="EBEBEB"/>
                </a:solidFill>
                <a:latin typeface="+mj-lt"/>
                <a:ea typeface="+mj-ea"/>
                <a:cs typeface="+mj-cs"/>
              </a:rPr>
              <a:t>Thank you</a:t>
            </a:r>
          </a:p>
        </p:txBody>
      </p:sp>
      <p:sp>
        <p:nvSpPr>
          <p:cNvPr id="23" name="Freeform 8">
            <a:extLst>
              <a:ext uri="{FF2B5EF4-FFF2-40B4-BE49-F238E27FC236}">
                <a16:creationId xmlns:a16="http://schemas.microsoft.com/office/drawing/2014/main" id="{36FD4D9D-3784-41E8-8405-A42B72F5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5692"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5" name="Freeform: Shape 24">
            <a:extLst>
              <a:ext uri="{FF2B5EF4-FFF2-40B4-BE49-F238E27FC236}">
                <a16:creationId xmlns:a16="http://schemas.microsoft.com/office/drawing/2014/main" id="{09811DF6-66E4-43D5-B564-315179653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81964" cy="6858000"/>
          </a:xfrm>
          <a:custGeom>
            <a:avLst/>
            <a:gdLst>
              <a:gd name="connsiteX0" fmla="*/ 3137249 w 4481964"/>
              <a:gd name="connsiteY0" fmla="*/ 0 h 6858000"/>
              <a:gd name="connsiteX1" fmla="*/ 4480787 w 4481964"/>
              <a:gd name="connsiteY1" fmla="*/ 0 h 6858000"/>
              <a:gd name="connsiteX2" fmla="*/ 4455742 w 4481964"/>
              <a:gd name="connsiteY2" fmla="*/ 155676 h 6858000"/>
              <a:gd name="connsiteX3" fmla="*/ 4431873 w 4481964"/>
              <a:gd name="connsiteY3" fmla="*/ 310667 h 6858000"/>
              <a:gd name="connsiteX4" fmla="*/ 4408509 w 4481964"/>
              <a:gd name="connsiteY4" fmla="*/ 466344 h 6858000"/>
              <a:gd name="connsiteX5" fmla="*/ 4388506 w 4481964"/>
              <a:gd name="connsiteY5" fmla="*/ 622706 h 6858000"/>
              <a:gd name="connsiteX6" fmla="*/ 4368335 w 4481964"/>
              <a:gd name="connsiteY6" fmla="*/ 778383 h 6858000"/>
              <a:gd name="connsiteX7" fmla="*/ 4349509 w 4481964"/>
              <a:gd name="connsiteY7" fmla="*/ 934745 h 6858000"/>
              <a:gd name="connsiteX8" fmla="*/ 4333373 w 4481964"/>
              <a:gd name="connsiteY8" fmla="*/ 1089050 h 6858000"/>
              <a:gd name="connsiteX9" fmla="*/ 4318077 w 4481964"/>
              <a:gd name="connsiteY9" fmla="*/ 1245413 h 6858000"/>
              <a:gd name="connsiteX10" fmla="*/ 4304125 w 4481964"/>
              <a:gd name="connsiteY10" fmla="*/ 1401089 h 6858000"/>
              <a:gd name="connsiteX11" fmla="*/ 4292023 w 4481964"/>
              <a:gd name="connsiteY11" fmla="*/ 1554023 h 6858000"/>
              <a:gd name="connsiteX12" fmla="*/ 4279920 w 4481964"/>
              <a:gd name="connsiteY12" fmla="*/ 1709013 h 6858000"/>
              <a:gd name="connsiteX13" fmla="*/ 4269835 w 4481964"/>
              <a:gd name="connsiteY13" fmla="*/ 1861947 h 6858000"/>
              <a:gd name="connsiteX14" fmla="*/ 4261935 w 4481964"/>
              <a:gd name="connsiteY14" fmla="*/ 2014880 h 6858000"/>
              <a:gd name="connsiteX15" fmla="*/ 4253698 w 4481964"/>
              <a:gd name="connsiteY15" fmla="*/ 2167128 h 6858000"/>
              <a:gd name="connsiteX16" fmla="*/ 4246807 w 4481964"/>
              <a:gd name="connsiteY16" fmla="*/ 2318004 h 6858000"/>
              <a:gd name="connsiteX17" fmla="*/ 4241932 w 4481964"/>
              <a:gd name="connsiteY17" fmla="*/ 2467508 h 6858000"/>
              <a:gd name="connsiteX18" fmla="*/ 4237730 w 4481964"/>
              <a:gd name="connsiteY18" fmla="*/ 2617013 h 6858000"/>
              <a:gd name="connsiteX19" fmla="*/ 4233696 w 4481964"/>
              <a:gd name="connsiteY19" fmla="*/ 2765145 h 6858000"/>
              <a:gd name="connsiteX20" fmla="*/ 4231847 w 4481964"/>
              <a:gd name="connsiteY20" fmla="*/ 2911221 h 6858000"/>
              <a:gd name="connsiteX21" fmla="*/ 4229830 w 4481964"/>
              <a:gd name="connsiteY21" fmla="*/ 3057296 h 6858000"/>
              <a:gd name="connsiteX22" fmla="*/ 4228821 w 4481964"/>
              <a:gd name="connsiteY22" fmla="*/ 3201314 h 6858000"/>
              <a:gd name="connsiteX23" fmla="*/ 4229830 w 4481964"/>
              <a:gd name="connsiteY23" fmla="*/ 3343960 h 6858000"/>
              <a:gd name="connsiteX24" fmla="*/ 4229830 w 4481964"/>
              <a:gd name="connsiteY24" fmla="*/ 3485235 h 6858000"/>
              <a:gd name="connsiteX25" fmla="*/ 4231847 w 4481964"/>
              <a:gd name="connsiteY25" fmla="*/ 3625138 h 6858000"/>
              <a:gd name="connsiteX26" fmla="*/ 4234872 w 4481964"/>
              <a:gd name="connsiteY26" fmla="*/ 3762298 h 6858000"/>
              <a:gd name="connsiteX27" fmla="*/ 4237730 w 4481964"/>
              <a:gd name="connsiteY27" fmla="*/ 3898087 h 6858000"/>
              <a:gd name="connsiteX28" fmla="*/ 4240924 w 4481964"/>
              <a:gd name="connsiteY28" fmla="*/ 4031132 h 6858000"/>
              <a:gd name="connsiteX29" fmla="*/ 4245798 w 4481964"/>
              <a:gd name="connsiteY29" fmla="*/ 4163491 h 6858000"/>
              <a:gd name="connsiteX30" fmla="*/ 4251009 w 4481964"/>
              <a:gd name="connsiteY30" fmla="*/ 4293793 h 6858000"/>
              <a:gd name="connsiteX31" fmla="*/ 4255715 w 4481964"/>
              <a:gd name="connsiteY31" fmla="*/ 4421352 h 6858000"/>
              <a:gd name="connsiteX32" fmla="*/ 4268995 w 4481964"/>
              <a:gd name="connsiteY32" fmla="*/ 4670298 h 6858000"/>
              <a:gd name="connsiteX33" fmla="*/ 4283114 w 4481964"/>
              <a:gd name="connsiteY33" fmla="*/ 4908956 h 6858000"/>
              <a:gd name="connsiteX34" fmla="*/ 4297906 w 4481964"/>
              <a:gd name="connsiteY34" fmla="*/ 5138013 h 6858000"/>
              <a:gd name="connsiteX35" fmla="*/ 4314211 w 4481964"/>
              <a:gd name="connsiteY35" fmla="*/ 5354726 h 6858000"/>
              <a:gd name="connsiteX36" fmla="*/ 4331188 w 4481964"/>
              <a:gd name="connsiteY36" fmla="*/ 5561838 h 6858000"/>
              <a:gd name="connsiteX37" fmla="*/ 4349509 w 4481964"/>
              <a:gd name="connsiteY37" fmla="*/ 5753862 h 6858000"/>
              <a:gd name="connsiteX38" fmla="*/ 4367495 w 4481964"/>
              <a:gd name="connsiteY38" fmla="*/ 5934227 h 6858000"/>
              <a:gd name="connsiteX39" fmla="*/ 4385480 w 4481964"/>
              <a:gd name="connsiteY39" fmla="*/ 6100191 h 6858000"/>
              <a:gd name="connsiteX40" fmla="*/ 4402457 w 4481964"/>
              <a:gd name="connsiteY40" fmla="*/ 6252438 h 6858000"/>
              <a:gd name="connsiteX41" fmla="*/ 4418594 w 4481964"/>
              <a:gd name="connsiteY41" fmla="*/ 6387541 h 6858000"/>
              <a:gd name="connsiteX42" fmla="*/ 4433890 w 4481964"/>
              <a:gd name="connsiteY42" fmla="*/ 6509613 h 6858000"/>
              <a:gd name="connsiteX43" fmla="*/ 4446665 w 4481964"/>
              <a:gd name="connsiteY43" fmla="*/ 6612483 h 6858000"/>
              <a:gd name="connsiteX44" fmla="*/ 4458767 w 4481964"/>
              <a:gd name="connsiteY44" fmla="*/ 6698894 h 6858000"/>
              <a:gd name="connsiteX45" fmla="*/ 4476081 w 4481964"/>
              <a:gd name="connsiteY45" fmla="*/ 6817538 h 6858000"/>
              <a:gd name="connsiteX46" fmla="*/ 4481964 w 4481964"/>
              <a:gd name="connsiteY46" fmla="*/ 6858000 h 6858000"/>
              <a:gd name="connsiteX47" fmla="*/ 3577807 w 4481964"/>
              <a:gd name="connsiteY47" fmla="*/ 6858000 h 6858000"/>
              <a:gd name="connsiteX48" fmla="*/ 3577807 w 4481964"/>
              <a:gd name="connsiteY48" fmla="*/ 6858000 h 6858000"/>
              <a:gd name="connsiteX49" fmla="*/ 0 w 4481964"/>
              <a:gd name="connsiteY49" fmla="*/ 6858000 h 6858000"/>
              <a:gd name="connsiteX50" fmla="*/ 0 w 4481964"/>
              <a:gd name="connsiteY50" fmla="*/ 0 h 6858000"/>
              <a:gd name="connsiteX51" fmla="*/ 3137249 w 448196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481964" h="6858000">
                <a:moveTo>
                  <a:pt x="3137249" y="0"/>
                </a:moveTo>
                <a:lnTo>
                  <a:pt x="4480787" y="0"/>
                </a:lnTo>
                <a:lnTo>
                  <a:pt x="4455742" y="155676"/>
                </a:lnTo>
                <a:lnTo>
                  <a:pt x="4431873" y="310667"/>
                </a:lnTo>
                <a:lnTo>
                  <a:pt x="4408509" y="466344"/>
                </a:lnTo>
                <a:lnTo>
                  <a:pt x="4388506" y="622706"/>
                </a:lnTo>
                <a:lnTo>
                  <a:pt x="4368335" y="778383"/>
                </a:lnTo>
                <a:lnTo>
                  <a:pt x="4349509" y="934745"/>
                </a:lnTo>
                <a:lnTo>
                  <a:pt x="4333373" y="1089050"/>
                </a:lnTo>
                <a:lnTo>
                  <a:pt x="4318077" y="1245413"/>
                </a:lnTo>
                <a:lnTo>
                  <a:pt x="4304125" y="1401089"/>
                </a:lnTo>
                <a:lnTo>
                  <a:pt x="4292023" y="1554023"/>
                </a:lnTo>
                <a:lnTo>
                  <a:pt x="4279920" y="1709013"/>
                </a:lnTo>
                <a:lnTo>
                  <a:pt x="4269835" y="1861947"/>
                </a:lnTo>
                <a:lnTo>
                  <a:pt x="4261935" y="2014880"/>
                </a:lnTo>
                <a:lnTo>
                  <a:pt x="4253698" y="2167128"/>
                </a:lnTo>
                <a:lnTo>
                  <a:pt x="4246807" y="2318004"/>
                </a:lnTo>
                <a:lnTo>
                  <a:pt x="4241932" y="2467508"/>
                </a:lnTo>
                <a:lnTo>
                  <a:pt x="4237730" y="2617013"/>
                </a:lnTo>
                <a:lnTo>
                  <a:pt x="4233696" y="2765145"/>
                </a:lnTo>
                <a:lnTo>
                  <a:pt x="4231847" y="2911221"/>
                </a:lnTo>
                <a:lnTo>
                  <a:pt x="4229830" y="3057296"/>
                </a:lnTo>
                <a:lnTo>
                  <a:pt x="4228821" y="3201314"/>
                </a:lnTo>
                <a:lnTo>
                  <a:pt x="4229830" y="3343960"/>
                </a:lnTo>
                <a:lnTo>
                  <a:pt x="4229830" y="3485235"/>
                </a:lnTo>
                <a:lnTo>
                  <a:pt x="4231847" y="3625138"/>
                </a:lnTo>
                <a:lnTo>
                  <a:pt x="4234872" y="3762298"/>
                </a:lnTo>
                <a:lnTo>
                  <a:pt x="4237730" y="3898087"/>
                </a:lnTo>
                <a:lnTo>
                  <a:pt x="4240924" y="4031132"/>
                </a:lnTo>
                <a:lnTo>
                  <a:pt x="4245798" y="4163491"/>
                </a:lnTo>
                <a:lnTo>
                  <a:pt x="4251009" y="4293793"/>
                </a:lnTo>
                <a:lnTo>
                  <a:pt x="4255715" y="4421352"/>
                </a:lnTo>
                <a:lnTo>
                  <a:pt x="4268995" y="4670298"/>
                </a:lnTo>
                <a:lnTo>
                  <a:pt x="4283114" y="4908956"/>
                </a:lnTo>
                <a:lnTo>
                  <a:pt x="4297906" y="5138013"/>
                </a:lnTo>
                <a:lnTo>
                  <a:pt x="4314211" y="5354726"/>
                </a:lnTo>
                <a:lnTo>
                  <a:pt x="4331188" y="5561838"/>
                </a:lnTo>
                <a:lnTo>
                  <a:pt x="4349509" y="5753862"/>
                </a:lnTo>
                <a:lnTo>
                  <a:pt x="4367495" y="5934227"/>
                </a:lnTo>
                <a:lnTo>
                  <a:pt x="4385480" y="6100191"/>
                </a:lnTo>
                <a:lnTo>
                  <a:pt x="4402457" y="6252438"/>
                </a:lnTo>
                <a:lnTo>
                  <a:pt x="4418594" y="6387541"/>
                </a:lnTo>
                <a:lnTo>
                  <a:pt x="4433890" y="6509613"/>
                </a:lnTo>
                <a:lnTo>
                  <a:pt x="4446665" y="6612483"/>
                </a:lnTo>
                <a:lnTo>
                  <a:pt x="4458767" y="6698894"/>
                </a:lnTo>
                <a:lnTo>
                  <a:pt x="4476081" y="6817538"/>
                </a:lnTo>
                <a:lnTo>
                  <a:pt x="4481964" y="6858000"/>
                </a:lnTo>
                <a:lnTo>
                  <a:pt x="3577807" y="6858000"/>
                </a:lnTo>
                <a:lnTo>
                  <a:pt x="3577807" y="6858000"/>
                </a:lnTo>
                <a:lnTo>
                  <a:pt x="0" y="6858000"/>
                </a:lnTo>
                <a:lnTo>
                  <a:pt x="0" y="0"/>
                </a:lnTo>
                <a:lnTo>
                  <a:pt x="313724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26">
            <a:extLst>
              <a:ext uri="{FF2B5EF4-FFF2-40B4-BE49-F238E27FC236}">
                <a16:creationId xmlns:a16="http://schemas.microsoft.com/office/drawing/2014/main" id="{60817A52-B891-4228-A61E-0C0A57632D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Graphic 5" descr="Smiling Face with No Fill">
            <a:extLst>
              <a:ext uri="{FF2B5EF4-FFF2-40B4-BE49-F238E27FC236}">
                <a16:creationId xmlns:a16="http://schemas.microsoft.com/office/drawing/2014/main" id="{FDC55749-7D4B-79D0-C950-9E7DC177BC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240" y="2074882"/>
            <a:ext cx="2936836" cy="2936836"/>
          </a:xfrm>
          <a:prstGeom prst="rect">
            <a:avLst/>
          </a:prstGeom>
          <a:effectLst/>
        </p:spPr>
      </p:pic>
    </p:spTree>
    <p:extLst>
      <p:ext uri="{BB962C8B-B14F-4D97-AF65-F5344CB8AC3E}">
        <p14:creationId xmlns:p14="http://schemas.microsoft.com/office/powerpoint/2010/main" val="34038598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118</TotalTime>
  <Words>891</Words>
  <Application>Microsoft Office PowerPoint</Application>
  <PresentationFormat>Widescreen</PresentationFormat>
  <Paragraphs>107</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Aharoni</vt:lpstr>
      <vt:lpstr>Aptos</vt:lpstr>
      <vt:lpstr>Arial</vt:lpstr>
      <vt:lpstr>Century Gothic</vt:lpstr>
      <vt:lpstr>Wingdings 3</vt:lpstr>
      <vt:lpstr>Ion</vt:lpstr>
      <vt:lpstr>Design and Development of low-cost bio inspired soft robot for pipeline inspection</vt:lpstr>
      <vt:lpstr>Introduction</vt:lpstr>
      <vt:lpstr>Literature review</vt:lpstr>
      <vt:lpstr>Problem Statement</vt:lpstr>
      <vt:lpstr>Objectives</vt:lpstr>
      <vt:lpstr>Radial Shell</vt:lpstr>
      <vt:lpstr>Mold design</vt:lpstr>
      <vt:lpstr>3D Printing</vt:lpstr>
      <vt:lpstr>3D preparation</vt:lpstr>
      <vt:lpstr>Balloon Simulation &amp; Results</vt:lpstr>
      <vt:lpstr>Balloon Simulation &amp; Results</vt:lpstr>
      <vt:lpstr>Balloon Simulation &amp; Results</vt:lpstr>
      <vt:lpstr>Balloon Simulation &amp; Results</vt:lpstr>
      <vt:lpstr>Linear actuator simulation &amp; Results</vt:lpstr>
      <vt:lpstr>Linear actuator simulation &amp; Results</vt:lpstr>
      <vt:lpstr>Linear actuator simulation &amp; Results</vt:lpstr>
      <vt:lpstr>Pouring the mold</vt:lpstr>
      <vt:lpstr>Test the liner part</vt:lpstr>
      <vt:lpstr>Assembly</vt:lpstr>
      <vt:lpstr>Conclusions</vt:lpstr>
      <vt:lpstr>Recommendations for future research</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Fadhel Mohammed</dc:creator>
  <cp:lastModifiedBy>Abdulla Salman Abdulla Abbas Altooq</cp:lastModifiedBy>
  <cp:revision>5</cp:revision>
  <dcterms:created xsi:type="dcterms:W3CDTF">2025-05-25T04:22:58Z</dcterms:created>
  <dcterms:modified xsi:type="dcterms:W3CDTF">2025-05-25T06:55:21Z</dcterms:modified>
</cp:coreProperties>
</file>